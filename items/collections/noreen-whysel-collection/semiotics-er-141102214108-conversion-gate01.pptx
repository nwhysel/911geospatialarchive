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9"/>
  </p:notesMasterIdLst>
  <p:sldIdLst>
    <p:sldId id="256" r:id="rId2"/>
    <p:sldId id="257" r:id="rId3"/>
    <p:sldId id="258" r:id="rId4"/>
    <p:sldId id="259" r:id="rId5"/>
    <p:sldId id="260" r:id="rId6"/>
    <p:sldId id="261" r:id="rId7"/>
    <p:sldId id="262" r:id="rId8"/>
    <p:sldId id="267" r:id="rId9"/>
    <p:sldId id="282" r:id="rId10"/>
    <p:sldId id="271" r:id="rId11"/>
    <p:sldId id="272" r:id="rId12"/>
    <p:sldId id="263" r:id="rId13"/>
    <p:sldId id="264" r:id="rId14"/>
    <p:sldId id="265" r:id="rId15"/>
    <p:sldId id="268" r:id="rId16"/>
    <p:sldId id="269" r:id="rId17"/>
    <p:sldId id="266" r:id="rId18"/>
    <p:sldId id="270" r:id="rId19"/>
    <p:sldId id="273" r:id="rId20"/>
    <p:sldId id="274" r:id="rId21"/>
    <p:sldId id="280" r:id="rId22"/>
    <p:sldId id="279" r:id="rId23"/>
    <p:sldId id="275" r:id="rId24"/>
    <p:sldId id="276" r:id="rId25"/>
    <p:sldId id="277" r:id="rId26"/>
    <p:sldId id="278" r:id="rId27"/>
    <p:sldId id="281" r:id="rId2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93" d="100"/>
          <a:sy n="93" d="100"/>
        </p:scale>
        <p:origin x="-576" y="-8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6FA7DB2-68E2-0F45-995E-6264AF6F09B4}" type="datetimeFigureOut">
              <a:rPr lang="en-US" smtClean="0"/>
              <a:t>3/1/24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654ABB0-7ED5-664C-9AD5-A8838ECEFE0B}"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We are all familiar with the symbols of maps. Lines for roads, points for towns, areas for land masses, buildings,</a:t>
            </a:r>
            <a:r>
              <a:rPr lang="en-US" baseline="0" dirty="0"/>
              <a:t> parks and bodies of water, etc..</a:t>
            </a:r>
            <a:endParaRPr lang="en-US" dirty="0"/>
          </a:p>
        </p:txBody>
      </p:sp>
      <p:sp>
        <p:nvSpPr>
          <p:cNvPr id="4" name="Slide Number Placeholder 3"/>
          <p:cNvSpPr>
            <a:spLocks noGrp="1"/>
          </p:cNvSpPr>
          <p:nvPr>
            <p:ph type="sldNum" sz="quarter" idx="10"/>
          </p:nvPr>
        </p:nvSpPr>
        <p:spPr/>
        <p:txBody>
          <a:bodyPr/>
          <a:lstStyle/>
          <a:p>
            <a:fld id="{9654ABB0-7ED5-664C-9AD5-A8838ECEFE0B}" type="slidenum">
              <a:rPr lang="en-US" smtClean="0"/>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Semiotics applied to mapping</a:t>
            </a:r>
          </a:p>
        </p:txBody>
      </p:sp>
      <p:sp>
        <p:nvSpPr>
          <p:cNvPr id="4" name="Slide Number Placeholder 3"/>
          <p:cNvSpPr>
            <a:spLocks noGrp="1"/>
          </p:cNvSpPr>
          <p:nvPr>
            <p:ph type="sldNum" sz="quarter" idx="10"/>
          </p:nvPr>
        </p:nvSpPr>
        <p:spPr/>
        <p:txBody>
          <a:bodyPr/>
          <a:lstStyle/>
          <a:p>
            <a:fld id="{9654ABB0-7ED5-664C-9AD5-A8838ECEFE0B}" type="slidenum">
              <a:rPr lang="en-US" smtClean="0"/>
              <a:t>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mn-lt"/>
                <a:ea typeface="+mn-ea"/>
                <a:cs typeface="+mn-cs"/>
              </a:rPr>
              <a:t>In the context of cartography, syntax refers to how individual map elements such as points and lines relate to one another to create a cohesive map.</a:t>
            </a:r>
            <a:r>
              <a:rPr lang="en-US" dirty="0"/>
              <a:t> </a:t>
            </a:r>
          </a:p>
          <a:p>
            <a:r>
              <a:rPr lang="en-US" dirty="0"/>
              <a:t>We know that the white grid represent streets and intersections on a land mass and that points</a:t>
            </a:r>
            <a:r>
              <a:rPr lang="en-US" baseline="0" dirty="0"/>
              <a:t> on the map are centered on cohesive parts such as the Columbia University campus and surrounding parks.</a:t>
            </a:r>
            <a:endParaRPr lang="en-US" dirty="0"/>
          </a:p>
        </p:txBody>
      </p:sp>
      <p:sp>
        <p:nvSpPr>
          <p:cNvPr id="4" name="Slide Number Placeholder 3"/>
          <p:cNvSpPr>
            <a:spLocks noGrp="1"/>
          </p:cNvSpPr>
          <p:nvPr>
            <p:ph type="sldNum" sz="quarter" idx="10"/>
          </p:nvPr>
        </p:nvSpPr>
        <p:spPr/>
        <p:txBody>
          <a:bodyPr/>
          <a:lstStyle/>
          <a:p>
            <a:fld id="{9654ABB0-7ED5-664C-9AD5-A8838ECEFE0B}" type="slidenum">
              <a:rPr lang="en-US" smtClean="0"/>
              <a:t>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mn-lt"/>
                <a:ea typeface="+mn-ea"/>
                <a:cs typeface="+mn-cs"/>
              </a:rPr>
              <a:t>In cartography, semantics refer to the meaning of the map </a:t>
            </a:r>
            <a:r>
              <a:rPr lang="en-US" sz="1200" kern="1200" dirty="0" err="1">
                <a:solidFill>
                  <a:schemeClr val="tx1"/>
                </a:solidFill>
                <a:latin typeface="+mn-lt"/>
                <a:ea typeface="+mn-ea"/>
                <a:cs typeface="+mn-cs"/>
              </a:rPr>
              <a:t>symbology</a:t>
            </a:r>
            <a:r>
              <a:rPr lang="en-US" sz="1200" kern="1200" dirty="0">
                <a:solidFill>
                  <a:schemeClr val="tx1"/>
                </a:solidFill>
                <a:latin typeface="+mn-lt"/>
                <a:ea typeface="+mn-ea"/>
                <a:cs typeface="+mn-cs"/>
              </a:rPr>
              <a:t> and how it represents its real world counterpart.</a:t>
            </a:r>
          </a:p>
          <a:p>
            <a:r>
              <a:rPr lang="en-US" sz="1200" kern="1200" dirty="0">
                <a:solidFill>
                  <a:schemeClr val="tx1"/>
                </a:solidFill>
                <a:latin typeface="+mn-lt"/>
                <a:ea typeface="+mn-ea"/>
                <a:cs typeface="+mn-cs"/>
              </a:rPr>
              <a:t>Standards:</a:t>
            </a:r>
            <a:r>
              <a:rPr lang="en-US" sz="1200" kern="1200" baseline="0" dirty="0">
                <a:solidFill>
                  <a:schemeClr val="tx1"/>
                </a:solidFill>
                <a:latin typeface="+mn-lt"/>
                <a:ea typeface="+mn-ea"/>
                <a:cs typeface="+mn-cs"/>
              </a:rPr>
              <a:t> blue water, green parks, compass rose pointing North, distance measures, </a:t>
            </a:r>
            <a:r>
              <a:rPr lang="en-US" sz="1200" kern="1200" baseline="0" dirty="0" err="1">
                <a:solidFill>
                  <a:schemeClr val="tx1"/>
                </a:solidFill>
                <a:latin typeface="+mn-lt"/>
                <a:ea typeface="+mn-ea"/>
                <a:cs typeface="+mn-cs"/>
              </a:rPr>
              <a:t>populatio</a:t>
            </a:r>
            <a:r>
              <a:rPr lang="en-US" sz="1200" kern="1200" baseline="0" dirty="0">
                <a:solidFill>
                  <a:schemeClr val="tx1"/>
                </a:solidFill>
                <a:latin typeface="+mn-lt"/>
                <a:ea typeface="+mn-ea"/>
                <a:cs typeface="+mn-cs"/>
              </a:rPr>
              <a:t> areas</a:t>
            </a:r>
            <a:endParaRPr lang="en-US" sz="1200" kern="120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9654ABB0-7ED5-664C-9AD5-A8838ECEFE0B}" type="slidenum">
              <a:rPr lang="en-US" smtClean="0"/>
              <a:t>6</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What happens when these conventions are thrown out of </a:t>
            </a:r>
            <a:r>
              <a:rPr lang="en-US" dirty="0" err="1"/>
              <a:t>wack</a:t>
            </a:r>
            <a:r>
              <a:rPr lang="en-US" dirty="0"/>
              <a:t>?</a:t>
            </a:r>
          </a:p>
          <a:p>
            <a:r>
              <a:rPr lang="en-US" dirty="0"/>
              <a:t>Massimo </a:t>
            </a:r>
            <a:r>
              <a:rPr lang="en-US" dirty="0" err="1"/>
              <a:t>Vignelli’s</a:t>
            </a:r>
            <a:r>
              <a:rPr lang="en-US" dirty="0"/>
              <a:t> Iconic 1972 New</a:t>
            </a:r>
            <a:r>
              <a:rPr lang="en-US" baseline="0" dirty="0"/>
              <a:t> York City Subway map confused visitors. Lays out subway lines and stops but did not represent the real world.</a:t>
            </a:r>
          </a:p>
          <a:p>
            <a:r>
              <a:rPr lang="en-US" baseline="0" dirty="0"/>
              <a:t>Central Park appears to be wider than it is long. Water is brown. (It does show which way is North.)</a:t>
            </a:r>
            <a:endParaRPr lang="en-US" dirty="0"/>
          </a:p>
        </p:txBody>
      </p:sp>
      <p:sp>
        <p:nvSpPr>
          <p:cNvPr id="4" name="Slide Number Placeholder 3"/>
          <p:cNvSpPr>
            <a:spLocks noGrp="1"/>
          </p:cNvSpPr>
          <p:nvPr>
            <p:ph type="sldNum" sz="quarter" idx="10"/>
          </p:nvPr>
        </p:nvSpPr>
        <p:spPr/>
        <p:txBody>
          <a:bodyPr/>
          <a:lstStyle/>
          <a:p>
            <a:fld id="{9654ABB0-7ED5-664C-9AD5-A8838ECEFE0B}" type="slidenum">
              <a:rPr lang="en-US" smtClean="0"/>
              <a:t>7</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Concerning cartography, pragmatics refer to how the map user responds to the map </a:t>
            </a:r>
            <a:r>
              <a:rPr lang="en-US" dirty="0" err="1"/>
              <a:t>symbology</a:t>
            </a:r>
            <a:r>
              <a:rPr lang="en-US" dirty="0"/>
              <a:t>.</a:t>
            </a:r>
          </a:p>
          <a:p>
            <a:endParaRPr lang="en-US" dirty="0"/>
          </a:p>
        </p:txBody>
      </p:sp>
      <p:sp>
        <p:nvSpPr>
          <p:cNvPr id="4" name="Slide Number Placeholder 3"/>
          <p:cNvSpPr>
            <a:spLocks noGrp="1"/>
          </p:cNvSpPr>
          <p:nvPr>
            <p:ph type="sldNum" sz="quarter" idx="10"/>
          </p:nvPr>
        </p:nvSpPr>
        <p:spPr/>
        <p:txBody>
          <a:bodyPr/>
          <a:lstStyle/>
          <a:p>
            <a:fld id="{9654ABB0-7ED5-664C-9AD5-A8838ECEFE0B}" type="slidenum">
              <a:rPr lang="en-US" smtClean="0"/>
              <a:t>8</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When we see a </a:t>
            </a:r>
            <a:r>
              <a:rPr lang="en-US" baseline="0" dirty="0"/>
              <a:t>map, whether it is on the web, in an app or on paper, we understand it as a map because we have seen maps before.</a:t>
            </a:r>
          </a:p>
          <a:p>
            <a:r>
              <a:rPr lang="en-US" baseline="0" dirty="0"/>
              <a:t>Our understanding of lines, points and areas come from our past experiences with maps.</a:t>
            </a:r>
            <a:endParaRPr lang="en-US" dirty="0"/>
          </a:p>
        </p:txBody>
      </p:sp>
      <p:sp>
        <p:nvSpPr>
          <p:cNvPr id="4" name="Slide Number Placeholder 3"/>
          <p:cNvSpPr>
            <a:spLocks noGrp="1"/>
          </p:cNvSpPr>
          <p:nvPr>
            <p:ph type="sldNum" sz="quarter" idx="10"/>
          </p:nvPr>
        </p:nvSpPr>
        <p:spPr/>
        <p:txBody>
          <a:bodyPr/>
          <a:lstStyle/>
          <a:p>
            <a:fld id="{9654ABB0-7ED5-664C-9AD5-A8838ECEFE0B}" type="slidenum">
              <a:rPr lang="en-US" smtClean="0"/>
              <a:t>10</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In a novel map, we need to study</a:t>
            </a:r>
            <a:r>
              <a:rPr lang="en-US" baseline="0" dirty="0"/>
              <a:t> the map to understand what it represents</a:t>
            </a:r>
            <a:endParaRPr lang="en-US" dirty="0"/>
          </a:p>
        </p:txBody>
      </p:sp>
      <p:sp>
        <p:nvSpPr>
          <p:cNvPr id="4" name="Slide Number Placeholder 3"/>
          <p:cNvSpPr>
            <a:spLocks noGrp="1"/>
          </p:cNvSpPr>
          <p:nvPr>
            <p:ph type="sldNum" sz="quarter" idx="10"/>
          </p:nvPr>
        </p:nvSpPr>
        <p:spPr/>
        <p:txBody>
          <a:bodyPr/>
          <a:lstStyle/>
          <a:p>
            <a:fld id="{9654ABB0-7ED5-664C-9AD5-A8838ECEFE0B}" type="slidenum">
              <a:rPr lang="en-US" smtClean="0"/>
              <a:t>11</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What are semiotics</a:t>
            </a:r>
            <a:r>
              <a:rPr lang="en-US" baseline="0" dirty="0"/>
              <a:t> of emergency?</a:t>
            </a:r>
            <a:endParaRPr lang="en-US" dirty="0"/>
          </a:p>
        </p:txBody>
      </p:sp>
      <p:sp>
        <p:nvSpPr>
          <p:cNvPr id="4" name="Slide Number Placeholder 3"/>
          <p:cNvSpPr>
            <a:spLocks noGrp="1"/>
          </p:cNvSpPr>
          <p:nvPr>
            <p:ph type="sldNum" sz="quarter" idx="10"/>
          </p:nvPr>
        </p:nvSpPr>
        <p:spPr/>
        <p:txBody>
          <a:bodyPr/>
          <a:lstStyle/>
          <a:p>
            <a:fld id="{9654ABB0-7ED5-664C-9AD5-A8838ECEFE0B}" type="slidenum">
              <a:rPr lang="en-US" smtClean="0"/>
              <a:t>13</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The color red</a:t>
            </a:r>
          </a:p>
        </p:txBody>
      </p:sp>
      <p:sp>
        <p:nvSpPr>
          <p:cNvPr id="4" name="Slide Number Placeholder 3"/>
          <p:cNvSpPr>
            <a:spLocks noGrp="1"/>
          </p:cNvSpPr>
          <p:nvPr>
            <p:ph type="sldNum" sz="quarter" idx="10"/>
          </p:nvPr>
        </p:nvSpPr>
        <p:spPr/>
        <p:txBody>
          <a:bodyPr/>
          <a:lstStyle/>
          <a:p>
            <a:fld id="{9654ABB0-7ED5-664C-9AD5-A8838ECEFE0B}" type="slidenum">
              <a:rPr lang="en-US" smtClean="0"/>
              <a:t>14</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Anger, Danger,</a:t>
            </a:r>
            <a:r>
              <a:rPr lang="en-US" baseline="0" dirty="0"/>
              <a:t> Heat</a:t>
            </a:r>
            <a:endParaRPr lang="en-US" dirty="0"/>
          </a:p>
        </p:txBody>
      </p:sp>
      <p:sp>
        <p:nvSpPr>
          <p:cNvPr id="4" name="Slide Number Placeholder 3"/>
          <p:cNvSpPr>
            <a:spLocks noGrp="1"/>
          </p:cNvSpPr>
          <p:nvPr>
            <p:ph type="sldNum" sz="quarter" idx="10"/>
          </p:nvPr>
        </p:nvSpPr>
        <p:spPr/>
        <p:txBody>
          <a:bodyPr/>
          <a:lstStyle/>
          <a:p>
            <a:fld id="{9654ABB0-7ED5-664C-9AD5-A8838ECEFE0B}" type="slidenum">
              <a:rPr lang="en-US" smtClean="0"/>
              <a:t>15</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Good Luck, Love, Happiness, Passion Success,</a:t>
            </a:r>
            <a:r>
              <a:rPr lang="en-US" baseline="0" dirty="0"/>
              <a:t> Marriage</a:t>
            </a:r>
          </a:p>
          <a:p>
            <a:r>
              <a:rPr lang="en-US" baseline="0" dirty="0"/>
              <a:t>Strong Emotion</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Source: Colors in Cultures. Information is Beautiful. </a:t>
            </a:r>
            <a:r>
              <a:rPr lang="en-US" sz="1200" dirty="0" err="1"/>
              <a:t>http://www.informationisbeautiful.net/visualizations/colours-in-cultures/</a:t>
            </a:r>
            <a:endParaRPr lang="en-US" sz="1200" dirty="0"/>
          </a:p>
          <a:p>
            <a:endParaRPr lang="en-US" dirty="0"/>
          </a:p>
        </p:txBody>
      </p:sp>
      <p:sp>
        <p:nvSpPr>
          <p:cNvPr id="4" name="Slide Number Placeholder 3"/>
          <p:cNvSpPr>
            <a:spLocks noGrp="1"/>
          </p:cNvSpPr>
          <p:nvPr>
            <p:ph type="sldNum" sz="quarter" idx="10"/>
          </p:nvPr>
        </p:nvSpPr>
        <p:spPr/>
        <p:txBody>
          <a:bodyPr/>
          <a:lstStyle/>
          <a:p>
            <a:fld id="{9654ABB0-7ED5-664C-9AD5-A8838ECEFE0B}" type="slidenum">
              <a:rPr lang="en-US" smtClean="0"/>
              <a:t>16</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The color red</a:t>
            </a:r>
          </a:p>
          <a:p>
            <a:r>
              <a:rPr lang="en-US" dirty="0"/>
              <a:t>In Emergencies, eye catching</a:t>
            </a:r>
          </a:p>
          <a:p>
            <a:r>
              <a:rPr lang="en-US" dirty="0"/>
              <a:t>In Nature, poisonous bugs, mushrooms,</a:t>
            </a:r>
            <a:r>
              <a:rPr lang="en-US" baseline="0" dirty="0"/>
              <a:t> frogs. Not only human, coded in the way we perceive and understand the world around us.</a:t>
            </a:r>
            <a:endParaRPr lang="en-US" dirty="0"/>
          </a:p>
        </p:txBody>
      </p:sp>
      <p:sp>
        <p:nvSpPr>
          <p:cNvPr id="4" name="Slide Number Placeholder 3"/>
          <p:cNvSpPr>
            <a:spLocks noGrp="1"/>
          </p:cNvSpPr>
          <p:nvPr>
            <p:ph type="sldNum" sz="quarter" idx="10"/>
          </p:nvPr>
        </p:nvSpPr>
        <p:spPr/>
        <p:txBody>
          <a:bodyPr/>
          <a:lstStyle/>
          <a:p>
            <a:fld id="{9654ABB0-7ED5-664C-9AD5-A8838ECEFE0B}" type="slidenum">
              <a:rPr lang="en-US" smtClean="0"/>
              <a:t>17</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a:t>In 2014, The Fire Department of NYC</a:t>
            </a:r>
            <a:r>
              <a:rPr lang="en-US" baseline="0" dirty="0"/>
              <a:t> created a series of maps to prepare for the Super Bowl XVLIII Boulevard in Times Square. </a:t>
            </a:r>
            <a:r>
              <a:rPr lang="en-US" baseline="0" dirty="0" err="1"/>
              <a:t>PenBay</a:t>
            </a:r>
            <a:r>
              <a:rPr lang="en-US" baseline="0" dirty="0"/>
              <a:t> systems developed a series of symbols indicating where emergency services and materials would be located. </a:t>
            </a:r>
            <a:r>
              <a:rPr lang="en-US" sz="1200" kern="1200" dirty="0">
                <a:solidFill>
                  <a:schemeClr val="tx1"/>
                </a:solidFill>
                <a:latin typeface="+mn-lt"/>
                <a:ea typeface="+mn-ea"/>
                <a:cs typeface="+mn-cs"/>
              </a:rPr>
              <a:t>The FDNY GIS Unit in conjunction with </a:t>
            </a:r>
            <a:r>
              <a:rPr lang="en-US" sz="1200" kern="1200" dirty="0" err="1">
                <a:solidFill>
                  <a:schemeClr val="tx1"/>
                </a:solidFill>
                <a:latin typeface="+mn-lt"/>
                <a:ea typeface="+mn-ea"/>
                <a:cs typeface="+mn-cs"/>
              </a:rPr>
              <a:t>PenBay</a:t>
            </a:r>
            <a:r>
              <a:rPr lang="en-US" sz="1200" kern="1200" dirty="0">
                <a:solidFill>
                  <a:schemeClr val="tx1"/>
                </a:solidFill>
                <a:latin typeface="+mn-lt"/>
                <a:ea typeface="+mn-ea"/>
                <a:cs typeface="+mn-cs"/>
              </a:rPr>
              <a:t> Solutions created an app that allowed the end user to have various information including Super Bowl venues, Super Bowl events, FDNY special event field resources, building information cards, subway floor plans, live traffic cameras, street closures, routes and operational zones. The app also allowed the end user on to view only the data that was relevant for a specific day of operation.</a:t>
            </a:r>
          </a:p>
          <a:p>
            <a:endParaRPr lang="en-US" dirty="0"/>
          </a:p>
        </p:txBody>
      </p:sp>
      <p:sp>
        <p:nvSpPr>
          <p:cNvPr id="4" name="Slide Number Placeholder 3"/>
          <p:cNvSpPr>
            <a:spLocks noGrp="1"/>
          </p:cNvSpPr>
          <p:nvPr>
            <p:ph type="sldNum" sz="quarter" idx="10"/>
          </p:nvPr>
        </p:nvSpPr>
        <p:spPr/>
        <p:txBody>
          <a:bodyPr/>
          <a:lstStyle/>
          <a:p>
            <a:fld id="{9654ABB0-7ED5-664C-9AD5-A8838ECEFE0B}" type="slidenum">
              <a:rPr lang="en-US" smtClean="0"/>
              <a:t>19</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mn-lt"/>
                <a:ea typeface="+mn-ea"/>
                <a:cs typeface="+mn-cs"/>
              </a:rPr>
              <a:t>Since</a:t>
            </a:r>
            <a:r>
              <a:rPr lang="en-US" sz="1200" kern="1200" baseline="0" dirty="0">
                <a:solidFill>
                  <a:schemeClr val="tx1"/>
                </a:solidFill>
                <a:latin typeface="+mn-lt"/>
                <a:ea typeface="+mn-ea"/>
                <a:cs typeface="+mn-cs"/>
              </a:rPr>
              <a:t> 2005, the US </a:t>
            </a:r>
            <a:r>
              <a:rPr lang="en-US" sz="1200" kern="1200" dirty="0">
                <a:solidFill>
                  <a:schemeClr val="tx1"/>
                </a:solidFill>
                <a:latin typeface="+mn-lt"/>
                <a:ea typeface="+mn-ea"/>
                <a:cs typeface="+mn-cs"/>
              </a:rPr>
              <a:t>Dept</a:t>
            </a:r>
            <a:r>
              <a:rPr lang="en-US" sz="1200" kern="1200" baseline="0" dirty="0">
                <a:solidFill>
                  <a:schemeClr val="tx1"/>
                </a:solidFill>
                <a:latin typeface="+mn-lt"/>
                <a:ea typeface="+mn-ea"/>
                <a:cs typeface="+mn-cs"/>
              </a:rPr>
              <a:t> of </a:t>
            </a:r>
            <a:r>
              <a:rPr lang="en-US" sz="1200" kern="1200" dirty="0">
                <a:solidFill>
                  <a:schemeClr val="tx1"/>
                </a:solidFill>
                <a:latin typeface="+mn-lt"/>
                <a:ea typeface="+mn-ea"/>
                <a:cs typeface="+mn-cs"/>
              </a:rPr>
              <a:t>Homeland Security has been working with the Pennsylvania State University’s </a:t>
            </a:r>
            <a:r>
              <a:rPr lang="en-US" sz="1200" kern="1200" dirty="0" err="1">
                <a:solidFill>
                  <a:schemeClr val="tx1"/>
                </a:solidFill>
                <a:latin typeface="+mn-lt"/>
                <a:ea typeface="+mn-ea"/>
                <a:cs typeface="+mn-cs"/>
              </a:rPr>
              <a:t>GeoVISTA</a:t>
            </a:r>
            <a:r>
              <a:rPr lang="en-US" sz="1200" kern="1200" dirty="0">
                <a:solidFill>
                  <a:schemeClr val="tx1"/>
                </a:solidFill>
                <a:latin typeface="+mn-lt"/>
                <a:ea typeface="+mn-ea"/>
                <a:cs typeface="+mn-cs"/>
              </a:rPr>
              <a:t> Center to promote standardization and sharing of map </a:t>
            </a:r>
            <a:r>
              <a:rPr lang="en-US" sz="1200" kern="1200" dirty="0" err="1">
                <a:solidFill>
                  <a:schemeClr val="tx1"/>
                </a:solidFill>
                <a:latin typeface="+mn-lt"/>
                <a:ea typeface="+mn-ea"/>
                <a:cs typeface="+mn-cs"/>
              </a:rPr>
              <a:t>symbology</a:t>
            </a:r>
            <a:r>
              <a:rPr lang="en-US" sz="1200" kern="1200" dirty="0">
                <a:solidFill>
                  <a:schemeClr val="tx1"/>
                </a:solidFill>
                <a:latin typeface="+mn-lt"/>
                <a:ea typeface="+mn-ea"/>
                <a:cs typeface="+mn-cs"/>
              </a:rPr>
              <a:t> throughout DHS components and the public safety community</a:t>
            </a:r>
            <a:r>
              <a:rPr lang="en-US" dirty="0"/>
              <a:t> </a:t>
            </a:r>
          </a:p>
        </p:txBody>
      </p:sp>
      <p:sp>
        <p:nvSpPr>
          <p:cNvPr id="4" name="Slide Number Placeholder 3"/>
          <p:cNvSpPr>
            <a:spLocks noGrp="1"/>
          </p:cNvSpPr>
          <p:nvPr>
            <p:ph type="sldNum" sz="quarter" idx="10"/>
          </p:nvPr>
        </p:nvSpPr>
        <p:spPr/>
        <p:txBody>
          <a:bodyPr/>
          <a:lstStyle/>
          <a:p>
            <a:fld id="{9654ABB0-7ED5-664C-9AD5-A8838ECEFE0B}" type="slidenum">
              <a:rPr lang="en-US" smtClean="0"/>
              <a:t>20</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mn-lt"/>
                <a:ea typeface="+mn-ea"/>
                <a:cs typeface="+mn-cs"/>
              </a:rPr>
              <a:t>EMS is designed to support emergency management applications across Canada, including the national Multi-Agency Situation Awareness Systems (MASAS). EMS is part of efforts to create a Common Operational Picture both with emergency management agencies and with the public at large. It targets Web applications, but can also be used with traditional desktop application</a:t>
            </a:r>
            <a:r>
              <a:rPr lang="en-US" dirty="0"/>
              <a:t> </a:t>
            </a:r>
          </a:p>
        </p:txBody>
      </p:sp>
      <p:sp>
        <p:nvSpPr>
          <p:cNvPr id="4" name="Slide Number Placeholder 3"/>
          <p:cNvSpPr>
            <a:spLocks noGrp="1"/>
          </p:cNvSpPr>
          <p:nvPr>
            <p:ph type="sldNum" sz="quarter" idx="10"/>
          </p:nvPr>
        </p:nvSpPr>
        <p:spPr/>
        <p:txBody>
          <a:bodyPr/>
          <a:lstStyle/>
          <a:p>
            <a:fld id="{9654ABB0-7ED5-664C-9AD5-A8838ECEFE0B}" type="slidenum">
              <a:rPr lang="en-US" smtClean="0"/>
              <a:t>21</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mn-lt"/>
                <a:ea typeface="+mn-ea"/>
                <a:cs typeface="+mn-cs"/>
              </a:rPr>
              <a:t>Since</a:t>
            </a:r>
            <a:r>
              <a:rPr lang="en-US" sz="1200" kern="1200" baseline="0" dirty="0">
                <a:solidFill>
                  <a:schemeClr val="tx1"/>
                </a:solidFill>
                <a:latin typeface="+mn-lt"/>
                <a:ea typeface="+mn-ea"/>
                <a:cs typeface="+mn-cs"/>
              </a:rPr>
              <a:t> 2005, the US </a:t>
            </a:r>
            <a:r>
              <a:rPr lang="en-US" sz="1200" kern="1200" dirty="0">
                <a:solidFill>
                  <a:schemeClr val="tx1"/>
                </a:solidFill>
                <a:latin typeface="+mn-lt"/>
                <a:ea typeface="+mn-ea"/>
                <a:cs typeface="+mn-cs"/>
              </a:rPr>
              <a:t>Dept</a:t>
            </a:r>
            <a:r>
              <a:rPr lang="en-US" sz="1200" kern="1200" baseline="0" dirty="0">
                <a:solidFill>
                  <a:schemeClr val="tx1"/>
                </a:solidFill>
                <a:latin typeface="+mn-lt"/>
                <a:ea typeface="+mn-ea"/>
                <a:cs typeface="+mn-cs"/>
              </a:rPr>
              <a:t> of </a:t>
            </a:r>
            <a:r>
              <a:rPr lang="en-US" sz="1200" kern="1200" dirty="0">
                <a:solidFill>
                  <a:schemeClr val="tx1"/>
                </a:solidFill>
                <a:latin typeface="+mn-lt"/>
                <a:ea typeface="+mn-ea"/>
                <a:cs typeface="+mn-cs"/>
              </a:rPr>
              <a:t>Homeland Security has been working with the Pennsylvania State University’s </a:t>
            </a:r>
            <a:r>
              <a:rPr lang="en-US" sz="1200" kern="1200" dirty="0" err="1">
                <a:solidFill>
                  <a:schemeClr val="tx1"/>
                </a:solidFill>
                <a:latin typeface="+mn-lt"/>
                <a:ea typeface="+mn-ea"/>
                <a:cs typeface="+mn-cs"/>
              </a:rPr>
              <a:t>GeoVISTA</a:t>
            </a:r>
            <a:r>
              <a:rPr lang="en-US" sz="1200" kern="1200" dirty="0">
                <a:solidFill>
                  <a:schemeClr val="tx1"/>
                </a:solidFill>
                <a:latin typeface="+mn-lt"/>
                <a:ea typeface="+mn-ea"/>
                <a:cs typeface="+mn-cs"/>
              </a:rPr>
              <a:t> Center to promote standardization and sharing of map </a:t>
            </a:r>
            <a:r>
              <a:rPr lang="en-US" sz="1200" kern="1200" dirty="0" err="1">
                <a:solidFill>
                  <a:schemeClr val="tx1"/>
                </a:solidFill>
                <a:latin typeface="+mn-lt"/>
                <a:ea typeface="+mn-ea"/>
                <a:cs typeface="+mn-cs"/>
              </a:rPr>
              <a:t>symbology</a:t>
            </a:r>
            <a:r>
              <a:rPr lang="en-US" sz="1200" kern="1200" dirty="0">
                <a:solidFill>
                  <a:schemeClr val="tx1"/>
                </a:solidFill>
                <a:latin typeface="+mn-lt"/>
                <a:ea typeface="+mn-ea"/>
                <a:cs typeface="+mn-cs"/>
              </a:rPr>
              <a:t> throughout DHS components and the public safety community</a:t>
            </a:r>
            <a:r>
              <a:rPr lang="en-US" dirty="0"/>
              <a:t> </a:t>
            </a:r>
          </a:p>
        </p:txBody>
      </p:sp>
      <p:sp>
        <p:nvSpPr>
          <p:cNvPr id="4" name="Slide Number Placeholder 3"/>
          <p:cNvSpPr>
            <a:spLocks noGrp="1"/>
          </p:cNvSpPr>
          <p:nvPr>
            <p:ph type="sldNum" sz="quarter" idx="10"/>
          </p:nvPr>
        </p:nvSpPr>
        <p:spPr/>
        <p:txBody>
          <a:bodyPr/>
          <a:lstStyle/>
          <a:p>
            <a:fld id="{9654ABB0-7ED5-664C-9AD5-A8838ECEFE0B}" type="slidenum">
              <a:rPr lang="en-US" smtClean="0"/>
              <a:t>22</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mn-lt"/>
                <a:ea typeface="+mn-ea"/>
                <a:cs typeface="+mn-cs"/>
              </a:rPr>
              <a:t>2. A web-based </a:t>
            </a:r>
            <a:r>
              <a:rPr lang="en-US" sz="1200" kern="1200" dirty="0" err="1">
                <a:solidFill>
                  <a:schemeClr val="tx1"/>
                </a:solidFill>
                <a:latin typeface="+mn-lt"/>
                <a:ea typeface="+mn-ea"/>
                <a:cs typeface="+mn-cs"/>
              </a:rPr>
              <a:t>Symbology</a:t>
            </a:r>
            <a:r>
              <a:rPr lang="en-US" sz="1200" kern="1200" dirty="0">
                <a:solidFill>
                  <a:schemeClr val="tx1"/>
                </a:solidFill>
                <a:latin typeface="+mn-lt"/>
                <a:ea typeface="+mn-ea"/>
                <a:cs typeface="+mn-cs"/>
              </a:rPr>
              <a:t> service (Symbol Store) that allows users to:</a:t>
            </a:r>
          </a:p>
        </p:txBody>
      </p:sp>
      <p:sp>
        <p:nvSpPr>
          <p:cNvPr id="4" name="Slide Number Placeholder 3"/>
          <p:cNvSpPr>
            <a:spLocks noGrp="1"/>
          </p:cNvSpPr>
          <p:nvPr>
            <p:ph type="sldNum" sz="quarter" idx="10"/>
          </p:nvPr>
        </p:nvSpPr>
        <p:spPr/>
        <p:txBody>
          <a:bodyPr/>
          <a:lstStyle/>
          <a:p>
            <a:fld id="{9654ABB0-7ED5-664C-9AD5-A8838ECEFE0B}" type="slidenum">
              <a:rPr lang="en-US" smtClean="0"/>
              <a:t>24</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mn-cs"/>
              </a:rPr>
              <a:t>The prototype Symbol Store will initially be populated with ANSI 415-2006 (FGDC HSWG), HSIP, FEMA, and DHS NPPD symbols)</a:t>
            </a:r>
          </a:p>
          <a:p>
            <a:endParaRPr lang="en-US" dirty="0"/>
          </a:p>
        </p:txBody>
      </p:sp>
      <p:sp>
        <p:nvSpPr>
          <p:cNvPr id="4" name="Slide Number Placeholder 3"/>
          <p:cNvSpPr>
            <a:spLocks noGrp="1"/>
          </p:cNvSpPr>
          <p:nvPr>
            <p:ph type="sldNum" sz="quarter" idx="10"/>
          </p:nvPr>
        </p:nvSpPr>
        <p:spPr/>
        <p:txBody>
          <a:bodyPr/>
          <a:lstStyle/>
          <a:p>
            <a:fld id="{9654ABB0-7ED5-664C-9AD5-A8838ECEFE0B}" type="slidenum">
              <a:rPr lang="en-US" smtClean="0"/>
              <a:t>25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2157319"/>
            <a:ext cx="8915400" cy="877824"/>
          </a:xfrm>
        </p:spPr>
        <p:txBody>
          <a:bodyPr/>
          <a:lstStyle/>
          <a:p>
            <a:r>
              <a:rPr lang="en-US"/>
              <a:t>Click to edit Master title style</a:t>
            </a:r>
            <a:endParaRPr/>
          </a:p>
        </p:txBody>
      </p:sp>
      <p:sp>
        <p:nvSpPr>
          <p:cNvPr id="3" name="Subtitle 2"/>
          <p:cNvSpPr>
            <a:spLocks noGrp="1"/>
          </p:cNvSpPr>
          <p:nvPr>
            <p:ph type="subTitle" idx="1"/>
          </p:nvPr>
        </p:nvSpPr>
        <p:spPr>
          <a:xfrm>
            <a:off x="914400" y="3034553"/>
            <a:ext cx="8001000" cy="3823447"/>
          </a:xfr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292608" tIns="91440" rIns="274320" bIns="91440" rtlCol="0" anchor="t" anchorCtr="0">
            <a:normAutofit/>
          </a:bodyPr>
          <a:lstStyle>
            <a:lvl1pPr marL="0" indent="0" algn="l" defTabSz="914400" rtl="0" eaLnBrk="1" latinLnBrk="0" hangingPunct="1">
              <a:spcBef>
                <a:spcPts val="2000"/>
              </a:spcBef>
              <a:buClr>
                <a:schemeClr val="accent1"/>
              </a:buClr>
              <a:buFont typeface="Wingdings 2" pitchFamily="18" charset="2"/>
              <a:buNone/>
              <a:defRPr sz="1800" kern="1200">
                <a:solidFill>
                  <a:schemeClr val="tx1">
                    <a:lumMod val="65000"/>
                    <a:lumOff val="35000"/>
                  </a:schemeClr>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p:txBody>
          <a:bodyPr/>
          <a:lstStyle/>
          <a:p>
            <a:fld id="{5F942D87-37C6-034C-8E31-3A777E6FE9B4}" type="datetimeFigureOut">
              <a:rPr lang="en-US" smtClean="0"/>
              <a:t>3/1/24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D1A621-E8D8-4445-A2A5-0F3CD88BFC28}"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5F942D87-37C6-034C-8E31-3A777E6FE9B4}" type="datetimeFigureOut">
              <a:rPr lang="en-US" smtClean="0"/>
              <a:t>3/1/24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D1A621-E8D8-4445-A2A5-0F3CD88BFC28}"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0" y="5025435"/>
            <a:ext cx="8915400" cy="914400"/>
          </a:xfrm>
        </p:spPr>
        <p:txBody>
          <a:bodyPr/>
          <a:lstStyle/>
          <a:p>
            <a:r>
              <a:rPr lang="en-US"/>
              <a:t>Click to edit Master title style</a:t>
            </a:r>
            <a:endParaRPr/>
          </a:p>
        </p:txBody>
      </p:sp>
      <p:sp>
        <p:nvSpPr>
          <p:cNvPr id="3" name="Subtitle 2"/>
          <p:cNvSpPr>
            <a:spLocks noGrp="1"/>
          </p:cNvSpPr>
          <p:nvPr>
            <p:ph type="subTitle" idx="1"/>
          </p:nvPr>
        </p:nvSpPr>
        <p:spPr>
          <a:xfrm>
            <a:off x="914400" y="5943600"/>
            <a:ext cx="8001000" cy="914400"/>
          </a:xfr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92608" tIns="91440" rIns="274320" bIns="91440" rtlCol="0" anchor="t" anchorCtr="0"/>
          <a:lstStyle>
            <a:lvl1pPr marL="0" indent="0" algn="l" defTabSz="914400" rtl="0" eaLnBrk="1" latinLnBrk="0" hangingPunct="1">
              <a:spcBef>
                <a:spcPts val="300"/>
              </a:spcBef>
              <a:buNone/>
              <a:defRPr sz="1800" kern="1200">
                <a:solidFill>
                  <a:schemeClr val="tx1">
                    <a:lumMod val="65000"/>
                    <a:lumOff val="35000"/>
                  </a:schemeClr>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p:txBody>
          <a:bodyPr/>
          <a:lstStyle/>
          <a:p>
            <a:fld id="{5F942D87-37C6-034C-8E31-3A777E6FE9B4}" type="datetimeFigureOut">
              <a:rPr lang="en-US" smtClean="0"/>
              <a:t>3/1/24</a:t>
            </a:fld>
            <a:endParaRPr lang="en-US"/>
          </a:p>
        </p:txBody>
      </p:sp>
      <p:sp>
        <p:nvSpPr>
          <p:cNvPr id="5" name="Footer Placeholder 4"/>
          <p:cNvSpPr>
            <a:spLocks noGrp="1"/>
          </p:cNvSpPr>
          <p:nvPr>
            <p:ph type="ftr" sz="quarter" idx="11"/>
          </p:nvPr>
        </p:nvSpPr>
        <p:spPr/>
        <p:txBody>
          <a:bodyPr/>
          <a:lstStyle/>
          <a:p>
            <a:endParaRPr lang="en-US"/>
          </a:p>
        </p:txBody>
      </p:sp>
      <p:sp>
        <p:nvSpPr>
          <p:cNvPr id="9" name="Picture Placeholder 8"/>
          <p:cNvSpPr>
            <a:spLocks noGrp="1"/>
          </p:cNvSpPr>
          <p:nvPr>
            <p:ph type="pic" sz="quarter" idx="13"/>
          </p:nvPr>
        </p:nvSpPr>
        <p:spPr>
          <a:xfrm>
            <a:off x="927100" y="1129553"/>
            <a:ext cx="7988300" cy="3886200"/>
          </a:xfrm>
        </p:spPr>
        <p:txBody>
          <a:bodyPr>
            <a:normAutofit/>
          </a:bodyPr>
          <a:lstStyle>
            <a:lvl1pPr marL="0" indent="0">
              <a:buNone/>
              <a:defRPr sz="1800"/>
            </a:lvl1pPr>
          </a:lstStyle>
          <a:p>
            <a:r>
              <a:rPr lang="en-US"/>
              <a:t>Click icon to add picture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0" y="3200399"/>
            <a:ext cx="8915400" cy="2286000"/>
          </a:xfrm>
          <a:solidFill>
            <a:schemeClr val="tx2"/>
          </a:solidFill>
        </p:spPr>
        <p:txBody>
          <a:bodyPr vert="horz" lIns="1188720" tIns="45720" rIns="274320" bIns="45720" rtlCol="0" anchor="b" anchorCtr="0">
            <a:normAutofit/>
          </a:bodyPr>
          <a:lstStyle>
            <a:lvl1pPr marL="0" indent="0" algn="l" defTabSz="914400" rtl="0" eaLnBrk="1" latinLnBrk="0" hangingPunct="1">
              <a:spcBef>
                <a:spcPct val="0"/>
              </a:spcBef>
              <a:buNone/>
              <a:defRPr sz="3600" kern="1200">
                <a:solidFill>
                  <a:schemeClr val="bg1"/>
                </a:solidFill>
                <a:latin typeface="+mj-lt"/>
                <a:ea typeface="+mj-ea"/>
                <a:cs typeface="+mj-cs"/>
              </a:defRPr>
            </a:lvl1pPr>
          </a:lstStyle>
          <a:p>
            <a:r>
              <a:rPr lang="en-US"/>
              <a:t>Click to edit Master title style</a:t>
            </a:r>
            <a:endParaRPr/>
          </a:p>
        </p:txBody>
      </p:sp>
      <p:sp>
        <p:nvSpPr>
          <p:cNvPr id="3" name="Text Placeholder 2"/>
          <p:cNvSpPr>
            <a:spLocks noGrp="1"/>
          </p:cNvSpPr>
          <p:nvPr>
            <p:ph type="body" idx="1"/>
          </p:nvPr>
        </p:nvSpPr>
        <p:spPr>
          <a:xfrm>
            <a:off x="914400" y="5484607"/>
            <a:ext cx="8001000" cy="777240"/>
          </a:xfr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292608" tIns="91440" rIns="274320" bIns="91440" rtlCol="0" anchor="ctr" anchorCtr="0">
            <a:normAutofit/>
          </a:bodyPr>
          <a:lstStyle>
            <a:lvl1pPr marL="0" indent="0" algn="l" defTabSz="914400" rtl="0" eaLnBrk="1" latinLnBrk="0" hangingPunct="1">
              <a:spcBef>
                <a:spcPts val="300"/>
              </a:spcBef>
              <a:buClr>
                <a:schemeClr val="accent1"/>
              </a:buClr>
              <a:buFont typeface="Wingdings 2" pitchFamily="18" charset="2"/>
              <a:buNone/>
              <a:defRPr sz="1800" kern="1200">
                <a:solidFill>
                  <a:schemeClr val="tx1">
                    <a:lumMod val="65000"/>
                    <a:lumOff val="35000"/>
                  </a:schemeClr>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942D87-37C6-034C-8E31-3A777E6FE9B4}" type="datetimeFigureOut">
              <a:rPr lang="en-US" smtClean="0"/>
              <a:t>3/1/24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D1A621-E8D8-4445-A2A5-0F3CD88BFC28}"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117600" y="2595563"/>
            <a:ext cx="3566160" cy="3681412"/>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5147534" y="2595563"/>
            <a:ext cx="3566160" cy="3681412"/>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a:xfrm>
            <a:off x="6580094" y="188259"/>
            <a:ext cx="2133600" cy="365125"/>
          </a:xfrm>
        </p:spPr>
        <p:txBody>
          <a:bodyPr/>
          <a:lstStyle/>
          <a:p>
            <a:fld id="{5F942D87-37C6-034C-8E31-3A777E6FE9B4}" type="datetimeFigureOut">
              <a:rPr lang="en-US" smtClean="0"/>
              <a:t>3/1/24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5D1A621-E8D8-4445-A2A5-0F3CD88BFC28}"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120588" y="2017713"/>
            <a:ext cx="3566160" cy="877887"/>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20588" y="3065929"/>
            <a:ext cx="3566160" cy="3211046"/>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5147534" y="2017713"/>
            <a:ext cx="3566160" cy="877887"/>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47534" y="3065929"/>
            <a:ext cx="3566160" cy="3211046"/>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a:xfrm>
            <a:off x="6580094" y="188259"/>
            <a:ext cx="2133600" cy="365125"/>
          </a:xfrm>
        </p:spPr>
        <p:txBody>
          <a:bodyPr/>
          <a:lstStyle/>
          <a:p>
            <a:fld id="{5F942D87-37C6-034C-8E31-3A777E6FE9B4}" type="datetimeFigureOut">
              <a:rPr lang="en-US" smtClean="0"/>
              <a:t>3/1/24</a:t>
            </a:fld>
            <a:endParaRPr lang="en-US"/>
          </a:p>
        </p:txBody>
      </p:sp>
      <p:sp>
        <p:nvSpPr>
          <p:cNvPr id="8" name="Footer Placeholder 7"/>
          <p:cNvSpPr>
            <a:spLocks noGrp="1"/>
          </p:cNvSpPr>
          <p:nvPr>
            <p:ph type="ftr" sz="quarter" idx="11"/>
          </p:nvPr>
        </p:nvSpPr>
        <p:spPr>
          <a:xfrm>
            <a:off x="1120588" y="188259"/>
            <a:ext cx="2895600" cy="365125"/>
          </a:xfrm>
        </p:spPr>
        <p:txBody>
          <a:bodyPr/>
          <a:lstStyle/>
          <a:p>
            <a:endParaRPr lang="en-US"/>
          </a:p>
        </p:txBody>
      </p:sp>
      <p:sp>
        <p:nvSpPr>
          <p:cNvPr id="9" name="Slide Number Placeholder 8"/>
          <p:cNvSpPr>
            <a:spLocks noGrp="1"/>
          </p:cNvSpPr>
          <p:nvPr>
            <p:ph type="sldNum" sz="quarter" idx="12"/>
          </p:nvPr>
        </p:nvSpPr>
        <p:spPr/>
        <p:txBody>
          <a:bodyPr/>
          <a:lstStyle/>
          <a:p>
            <a:fld id="{E5D1A621-E8D8-4445-A2A5-0F3CD88BFC28}" type="slidenum">
              <a:rPr lang="en-US" smtClean="0"/>
              <a:t>‹#›</a:t>
            </a:fld>
            <a:endParaRPr lang="en-US"/>
          </a:p>
        </p:txBody>
      </p:sp>
      <p:cxnSp>
        <p:nvCxnSpPr>
          <p:cNvPr id="11" name="Straight Connector 10"/>
          <p:cNvCxnSpPr/>
          <p:nvPr/>
        </p:nvCxnSpPr>
        <p:spPr>
          <a:xfrm>
            <a:off x="1212028" y="2904565"/>
            <a:ext cx="3383280" cy="1588"/>
          </a:xfrm>
          <a:prstGeom prst="line">
            <a:avLst/>
          </a:prstGeom>
          <a:ln w="3810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5238974" y="2904565"/>
            <a:ext cx="3383280" cy="1588"/>
          </a:xfrm>
          <a:prstGeom prst="line">
            <a:avLst/>
          </a:prstGeom>
          <a:ln w="3810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1212028" y="2904565"/>
            <a:ext cx="3383280" cy="1588"/>
          </a:xfrm>
          <a:prstGeom prst="line">
            <a:avLst/>
          </a:prstGeom>
          <a:ln w="3810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5238974" y="2904565"/>
            <a:ext cx="3383280" cy="1588"/>
          </a:xfrm>
          <a:prstGeom prst="line">
            <a:avLst/>
          </a:prstGeom>
          <a:ln w="3810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1212028" y="2904565"/>
            <a:ext cx="3383280" cy="1588"/>
          </a:xfrm>
          <a:prstGeom prst="line">
            <a:avLst/>
          </a:prstGeom>
          <a:ln w="3810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238974" y="2904565"/>
            <a:ext cx="3383280" cy="1588"/>
          </a:xfrm>
          <a:prstGeom prst="line">
            <a:avLst/>
          </a:prstGeom>
          <a:ln w="3810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5F942D87-37C6-034C-8E31-3A777E6FE9B4}" type="datetimeFigureOut">
              <a:rPr lang="en-US" smtClean="0"/>
              <a:t>3/1/24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5D1A621-E8D8-4445-A2A5-0F3CD88BFC28}"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942D87-37C6-034C-8E31-3A777E6FE9B4}" type="datetimeFigureOut">
              <a:rPr lang="en-US" smtClean="0"/>
              <a:t>3/1/24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5D1A621-E8D8-4445-A2A5-0F3CD88BFC28}"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0" y="1124712"/>
            <a:ext cx="8915400" cy="914400"/>
          </a:xfrm>
          <a:solidFill>
            <a:schemeClr val="tx2"/>
          </a:solidFill>
        </p:spPr>
        <p:txBody>
          <a:bodyPr vert="horz" lIns="1188720" tIns="45720" rIns="274320" bIns="45720" rtlCol="0" anchor="ctr">
            <a:normAutofit/>
          </a:bodyPr>
          <a:lstStyle>
            <a:lvl1pPr marL="0" indent="0" algn="l" defTabSz="914400" rtl="0" eaLnBrk="1" latinLnBrk="0" hangingPunct="1">
              <a:spcBef>
                <a:spcPct val="0"/>
              </a:spcBef>
              <a:buNone/>
              <a:defRPr sz="3600" kern="1200">
                <a:solidFill>
                  <a:schemeClr val="bg1"/>
                </a:solidFill>
                <a:latin typeface="+mj-lt"/>
                <a:ea typeface="+mj-ea"/>
                <a:cs typeface="+mj-cs"/>
              </a:defRPr>
            </a:lvl1pPr>
          </a:lstStyle>
          <a:p>
            <a:r>
              <a:rPr lang="en-US"/>
              <a:t>Click to edit Master title style</a:t>
            </a:r>
            <a:endParaRPr/>
          </a:p>
        </p:txBody>
      </p:sp>
      <p:sp>
        <p:nvSpPr>
          <p:cNvPr id="3" name="Content Placeholder 2"/>
          <p:cNvSpPr>
            <a:spLocks noGrp="1"/>
          </p:cNvSpPr>
          <p:nvPr>
            <p:ph idx="1"/>
          </p:nvPr>
        </p:nvSpPr>
        <p:spPr>
          <a:xfrm>
            <a:off x="5147534" y="2590800"/>
            <a:ext cx="3566160" cy="3686175"/>
          </a:xfrm>
        </p:spPr>
        <p:txBody>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900952" y="2039111"/>
            <a:ext cx="3566160" cy="4224528"/>
          </a:xfr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292608" tIns="274320" rIns="274320" bIns="274320" rtlCol="0" anchor="t" anchorCtr="0">
            <a:normAutofit/>
          </a:bodyPr>
          <a:lstStyle>
            <a:lvl1pPr marL="0" indent="0" algn="l" defTabSz="914400" rtl="0" eaLnBrk="1" latinLnBrk="0" hangingPunct="1">
              <a:spcBef>
                <a:spcPts val="2000"/>
              </a:spcBef>
              <a:buClr>
                <a:schemeClr val="accent1"/>
              </a:buClr>
              <a:buFont typeface="Wingdings 2" pitchFamily="18" charset="2"/>
              <a:buNone/>
              <a:defRPr sz="1800" kern="1200">
                <a:solidFill>
                  <a:schemeClr val="tx1">
                    <a:lumMod val="65000"/>
                    <a:lumOff val="35000"/>
                  </a:schemeClr>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580094" y="188259"/>
            <a:ext cx="2133600" cy="365125"/>
          </a:xfrm>
        </p:spPr>
        <p:txBody>
          <a:bodyPr/>
          <a:lstStyle/>
          <a:p>
            <a:fld id="{5F942D87-37C6-034C-8E31-3A777E6FE9B4}" type="datetimeFigureOut">
              <a:rPr lang="en-US" smtClean="0"/>
              <a:t>3/1/24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5D1A621-E8D8-4445-A2A5-0F3CD88BFC28}"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0" y="1124712"/>
            <a:ext cx="8915400" cy="914400"/>
          </a:xfrm>
          <a:solidFill>
            <a:schemeClr val="tx2"/>
          </a:solidFill>
        </p:spPr>
        <p:txBody>
          <a:bodyPr vert="horz" lIns="1188720" tIns="45720" rIns="274320" bIns="45720" rtlCol="0" anchor="ctr">
            <a:normAutofit/>
          </a:bodyPr>
          <a:lstStyle>
            <a:lvl1pPr marL="0" indent="0" algn="l" defTabSz="914400" rtl="0" eaLnBrk="1" latinLnBrk="0" hangingPunct="1">
              <a:spcBef>
                <a:spcPct val="0"/>
              </a:spcBef>
              <a:buNone/>
              <a:defRPr sz="3600" kern="1200">
                <a:solidFill>
                  <a:schemeClr val="bg1"/>
                </a:solidFill>
                <a:latin typeface="+mj-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5487987" y="2048256"/>
            <a:ext cx="3427413" cy="4206240"/>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914400" y="2039112"/>
            <a:ext cx="4572000" cy="4224528"/>
          </a:xfr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292608" tIns="274320" rIns="274320" bIns="274320" rtlCol="0" anchor="t" anchorCtr="0">
            <a:normAutofit/>
          </a:bodyPr>
          <a:lstStyle>
            <a:lvl1pPr marL="0" indent="0">
              <a:buNone/>
              <a:defRPr sz="1800" kern="1200">
                <a:solidFill>
                  <a:schemeClr val="tx1">
                    <a:lumMod val="65000"/>
                    <a:lumOff val="35000"/>
                  </a:schemeClr>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lgn="l" defTabSz="914400" rtl="0" eaLnBrk="1" latinLnBrk="0" hangingPunct="1">
              <a:spcBef>
                <a:spcPts val="2000"/>
              </a:spcBef>
              <a:buClr>
                <a:schemeClr val="accent1"/>
              </a:buClr>
              <a:buFont typeface="Wingdings 2" pitchFamily="18" charset="2"/>
              <a:buNone/>
            </a:pPr>
            <a:r>
              <a:rPr lang="en-US"/>
              <a:t>Click to edit Master text styles</a:t>
            </a:r>
          </a:p>
        </p:txBody>
      </p:sp>
      <p:sp>
        <p:nvSpPr>
          <p:cNvPr id="5" name="Date Placeholder 4"/>
          <p:cNvSpPr>
            <a:spLocks noGrp="1"/>
          </p:cNvSpPr>
          <p:nvPr>
            <p:ph type="dt" sz="half" idx="10"/>
          </p:nvPr>
        </p:nvSpPr>
        <p:spPr>
          <a:xfrm>
            <a:off x="6580094" y="188259"/>
            <a:ext cx="2133600" cy="365125"/>
          </a:xfrm>
        </p:spPr>
        <p:txBody>
          <a:bodyPr/>
          <a:lstStyle/>
          <a:p>
            <a:fld id="{5F942D87-37C6-034C-8E31-3A777E6FE9B4}" type="datetimeFigureOut">
              <a:rPr lang="en-US" smtClean="0"/>
              <a:t>3/1/24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5D1A621-E8D8-4445-A2A5-0F3CD88BFC28}"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Picture above Caption">
    <p:spTree>
      <p:nvGrpSpPr>
        <p:cNvPr id="1" name=""/>
        <p:cNvGrpSpPr/>
        <p:nvPr/>
      </p:nvGrpSpPr>
      <p:grpSpPr>
        <a:xfrm>
          <a:off x="0" y="0"/>
          <a:ext cx="0" cy="0"/>
          <a:chOff x="0" y="0"/>
          <a:chExt cx="0" cy="0"/>
        </a:xfrm>
      </p:grpSpPr>
      <p:sp>
        <p:nvSpPr>
          <p:cNvPr id="2" name="Title 1"/>
          <p:cNvSpPr>
            <a:spLocks noGrp="1"/>
          </p:cNvSpPr>
          <p:nvPr>
            <p:ph type="ctrTitle"/>
          </p:nvPr>
        </p:nvSpPr>
        <p:spPr>
          <a:xfrm>
            <a:off x="0" y="4114800"/>
            <a:ext cx="8915400" cy="877824"/>
          </a:xfrm>
        </p:spPr>
        <p:txBody>
          <a:bodyPr tIns="137160" bIns="137160" anchor="b" anchorCtr="0">
            <a:normAutofit/>
          </a:bodyPr>
          <a:lstStyle>
            <a:lvl1pPr>
              <a:defRPr sz="2400"/>
            </a:lvl1pPr>
          </a:lstStyle>
          <a:p>
            <a:r>
              <a:rPr lang="en-US"/>
              <a:t>Click to edit Master title style</a:t>
            </a:r>
            <a:endParaRPr/>
          </a:p>
        </p:txBody>
      </p:sp>
      <p:sp>
        <p:nvSpPr>
          <p:cNvPr id="3" name="Subtitle 2"/>
          <p:cNvSpPr>
            <a:spLocks noGrp="1"/>
          </p:cNvSpPr>
          <p:nvPr>
            <p:ph type="subTitle" idx="1"/>
          </p:nvPr>
        </p:nvSpPr>
        <p:spPr>
          <a:xfrm>
            <a:off x="914400" y="5002305"/>
            <a:ext cx="8001000" cy="1855695"/>
          </a:xfr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92608" tIns="137160" rIns="274320" bIns="137160" rtlCol="0" anchor="t" anchorCtr="0">
            <a:normAutofit/>
          </a:bodyPr>
          <a:lstStyle>
            <a:lvl1pPr marL="0" indent="0" algn="l" defTabSz="914400" rtl="0" eaLnBrk="1" latinLnBrk="0" hangingPunct="1">
              <a:buNone/>
              <a:defRPr sz="1600" kern="1200">
                <a:solidFill>
                  <a:schemeClr val="tx1">
                    <a:lumMod val="65000"/>
                    <a:lumOff val="35000"/>
                  </a:schemeClr>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p:txBody>
          <a:bodyPr/>
          <a:lstStyle/>
          <a:p>
            <a:fld id="{5F942D87-37C6-034C-8E31-3A777E6FE9B4}" type="datetimeFigureOut">
              <a:rPr lang="en-US" smtClean="0"/>
              <a:t>3/1/24</a:t>
            </a:fld>
            <a:endParaRPr lang="en-US"/>
          </a:p>
        </p:txBody>
      </p:sp>
      <p:sp>
        <p:nvSpPr>
          <p:cNvPr id="5" name="Footer Placeholder 4"/>
          <p:cNvSpPr>
            <a:spLocks noGrp="1"/>
          </p:cNvSpPr>
          <p:nvPr>
            <p:ph type="ftr" sz="quarter" idx="11"/>
          </p:nvPr>
        </p:nvSpPr>
        <p:spPr/>
        <p:txBody>
          <a:bodyPr/>
          <a:lstStyle/>
          <a:p>
            <a:endParaRPr lang="en-US"/>
          </a:p>
        </p:txBody>
      </p:sp>
      <p:sp>
        <p:nvSpPr>
          <p:cNvPr id="9" name="Picture Placeholder 8"/>
          <p:cNvSpPr>
            <a:spLocks noGrp="1"/>
          </p:cNvSpPr>
          <p:nvPr>
            <p:ph type="pic" sz="quarter" idx="13"/>
          </p:nvPr>
        </p:nvSpPr>
        <p:spPr>
          <a:xfrm>
            <a:off x="927100" y="1129553"/>
            <a:ext cx="7988300" cy="2980944"/>
          </a:xfrm>
        </p:spPr>
        <p:txBody>
          <a:bodyPr>
            <a:normAutofit/>
          </a:bodyPr>
          <a:lstStyle>
            <a:lvl1pPr marL="0" indent="0">
              <a:buNone/>
              <a:defRPr sz="1800"/>
            </a:lvl1pPr>
          </a:lstStyle>
          <a:p>
            <a:r>
              <a:rPr lang="en-US"/>
              <a:t>Click icon to add picture</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2 Pictures with Caption">
    <p:spTree>
      <p:nvGrpSpPr>
        <p:cNvPr id="1" name=""/>
        <p:cNvGrpSpPr/>
        <p:nvPr/>
      </p:nvGrpSpPr>
      <p:grpSpPr>
        <a:xfrm>
          <a:off x="0" y="0"/>
          <a:ext cx="0" cy="0"/>
          <a:chOff x="0" y="0"/>
          <a:chExt cx="0" cy="0"/>
        </a:xfrm>
      </p:grpSpPr>
      <p:sp>
        <p:nvSpPr>
          <p:cNvPr id="2" name="Title 1"/>
          <p:cNvSpPr>
            <a:spLocks noGrp="1"/>
          </p:cNvSpPr>
          <p:nvPr>
            <p:ph type="ctrTitle"/>
          </p:nvPr>
        </p:nvSpPr>
        <p:spPr>
          <a:xfrm>
            <a:off x="0" y="4114800"/>
            <a:ext cx="8915400" cy="877824"/>
          </a:xfrm>
        </p:spPr>
        <p:txBody>
          <a:bodyPr tIns="137160" bIns="137160" anchor="b" anchorCtr="0">
            <a:normAutofit/>
          </a:bodyPr>
          <a:lstStyle>
            <a:lvl1pPr>
              <a:defRPr sz="2400"/>
            </a:lvl1pPr>
          </a:lstStyle>
          <a:p>
            <a:r>
              <a:rPr lang="en-US"/>
              <a:t>Click to edit Master title style</a:t>
            </a:r>
            <a:endParaRPr/>
          </a:p>
        </p:txBody>
      </p:sp>
      <p:sp>
        <p:nvSpPr>
          <p:cNvPr id="3" name="Subtitle 2"/>
          <p:cNvSpPr>
            <a:spLocks noGrp="1"/>
          </p:cNvSpPr>
          <p:nvPr>
            <p:ph type="subTitle" idx="1"/>
          </p:nvPr>
        </p:nvSpPr>
        <p:spPr>
          <a:xfrm>
            <a:off x="914400" y="5002305"/>
            <a:ext cx="8001000" cy="1855695"/>
          </a:xfr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92608" tIns="137160" rIns="274320" bIns="137160" rtlCol="0" anchor="t" anchorCtr="0">
            <a:normAutofit/>
          </a:bodyPr>
          <a:lstStyle>
            <a:lvl1pPr marL="0" indent="0" algn="l" defTabSz="914400" rtl="0" eaLnBrk="1" latinLnBrk="0" hangingPunct="1">
              <a:buNone/>
              <a:defRPr sz="1600" kern="1200">
                <a:solidFill>
                  <a:schemeClr val="tx1">
                    <a:lumMod val="65000"/>
                    <a:lumOff val="35000"/>
                  </a:schemeClr>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a:xfrm>
            <a:off x="6580094" y="188259"/>
            <a:ext cx="2133600" cy="365125"/>
          </a:xfrm>
        </p:spPr>
        <p:txBody>
          <a:bodyPr/>
          <a:lstStyle/>
          <a:p>
            <a:fld id="{5F942D87-37C6-034C-8E31-3A777E6FE9B4}" type="datetimeFigureOut">
              <a:rPr lang="en-US" smtClean="0"/>
              <a:t>3/1/24</a:t>
            </a:fld>
            <a:endParaRPr lang="en-US"/>
          </a:p>
        </p:txBody>
      </p:sp>
      <p:sp>
        <p:nvSpPr>
          <p:cNvPr id="5" name="Footer Placeholder 4"/>
          <p:cNvSpPr>
            <a:spLocks noGrp="1"/>
          </p:cNvSpPr>
          <p:nvPr>
            <p:ph type="ftr" sz="quarter" idx="11"/>
          </p:nvPr>
        </p:nvSpPr>
        <p:spPr/>
        <p:txBody>
          <a:bodyPr/>
          <a:lstStyle/>
          <a:p>
            <a:endParaRPr lang="en-US"/>
          </a:p>
        </p:txBody>
      </p:sp>
      <p:sp>
        <p:nvSpPr>
          <p:cNvPr id="9" name="Picture Placeholder 8"/>
          <p:cNvSpPr>
            <a:spLocks noGrp="1"/>
          </p:cNvSpPr>
          <p:nvPr>
            <p:ph type="pic" sz="quarter" idx="13"/>
          </p:nvPr>
        </p:nvSpPr>
        <p:spPr>
          <a:xfrm>
            <a:off x="927100" y="1129553"/>
            <a:ext cx="3986784" cy="2980944"/>
          </a:xfrm>
        </p:spPr>
        <p:txBody>
          <a:bodyPr>
            <a:normAutofit/>
          </a:bodyPr>
          <a:lstStyle>
            <a:lvl1pPr marL="0" indent="0">
              <a:buNone/>
              <a:defRPr sz="1800"/>
            </a:lvl1pPr>
          </a:lstStyle>
          <a:p>
            <a:r>
              <a:rPr lang="en-US"/>
              <a:t>Click icon to add picture</a:t>
            </a:r>
            <a:endParaRPr/>
          </a:p>
        </p:txBody>
      </p:sp>
      <p:sp>
        <p:nvSpPr>
          <p:cNvPr id="7" name="Picture Placeholder 8"/>
          <p:cNvSpPr>
            <a:spLocks noGrp="1"/>
          </p:cNvSpPr>
          <p:nvPr>
            <p:ph type="pic" sz="quarter" idx="14"/>
          </p:nvPr>
        </p:nvSpPr>
        <p:spPr>
          <a:xfrm>
            <a:off x="4928616" y="1129553"/>
            <a:ext cx="3986784" cy="2980944"/>
          </a:xfrm>
        </p:spPr>
        <p:txBody>
          <a:bodyPr>
            <a:normAutofit/>
          </a:bodyPr>
          <a:lstStyle>
            <a:lvl1pPr marL="0" indent="0">
              <a:buNone/>
              <a:defRPr sz="1800"/>
            </a:lvl1pPr>
          </a:lstStyle>
          <a:p>
            <a:r>
              <a:rPr lang="en-US"/>
              <a:t>Click icon to add picture</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3 Pictures with Caption">
    <p:spTree>
      <p:nvGrpSpPr>
        <p:cNvPr id="1" name=""/>
        <p:cNvGrpSpPr/>
        <p:nvPr/>
      </p:nvGrpSpPr>
      <p:grpSpPr>
        <a:xfrm>
          <a:off x="0" y="0"/>
          <a:ext cx="0" cy="0"/>
          <a:chOff x="0" y="0"/>
          <a:chExt cx="0" cy="0"/>
        </a:xfrm>
      </p:grpSpPr>
      <p:sp>
        <p:nvSpPr>
          <p:cNvPr id="2" name="Title 1"/>
          <p:cNvSpPr>
            <a:spLocks noGrp="1"/>
          </p:cNvSpPr>
          <p:nvPr>
            <p:ph type="ctrTitle"/>
          </p:nvPr>
        </p:nvSpPr>
        <p:spPr>
          <a:xfrm>
            <a:off x="0" y="4114800"/>
            <a:ext cx="8915400" cy="877824"/>
          </a:xfrm>
        </p:spPr>
        <p:txBody>
          <a:bodyPr tIns="137160" bIns="137160" anchor="b" anchorCtr="0">
            <a:normAutofit/>
          </a:bodyPr>
          <a:lstStyle>
            <a:lvl1pPr>
              <a:defRPr sz="2400"/>
            </a:lvl1pPr>
          </a:lstStyle>
          <a:p>
            <a:r>
              <a:rPr lang="en-US"/>
              <a:t>Click to edit Master title style</a:t>
            </a:r>
            <a:endParaRPr/>
          </a:p>
        </p:txBody>
      </p:sp>
      <p:sp>
        <p:nvSpPr>
          <p:cNvPr id="3" name="Subtitle 2"/>
          <p:cNvSpPr>
            <a:spLocks noGrp="1"/>
          </p:cNvSpPr>
          <p:nvPr>
            <p:ph type="subTitle" idx="1"/>
          </p:nvPr>
        </p:nvSpPr>
        <p:spPr>
          <a:xfrm>
            <a:off x="914400" y="5002305"/>
            <a:ext cx="8001000" cy="1855695"/>
          </a:xfr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92608" tIns="137160" rIns="274320" bIns="137160" rtlCol="0" anchor="t" anchorCtr="0">
            <a:normAutofit/>
          </a:bodyPr>
          <a:lstStyle>
            <a:lvl1pPr marL="0" indent="0" algn="l" defTabSz="914400" rtl="0" eaLnBrk="1" latinLnBrk="0" hangingPunct="1">
              <a:buNone/>
              <a:defRPr sz="1600" kern="1200">
                <a:solidFill>
                  <a:schemeClr val="tx1">
                    <a:lumMod val="65000"/>
                    <a:lumOff val="35000"/>
                  </a:schemeClr>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a:xfrm>
            <a:off x="6580094" y="188259"/>
            <a:ext cx="2133600" cy="365125"/>
          </a:xfrm>
        </p:spPr>
        <p:txBody>
          <a:bodyPr/>
          <a:lstStyle/>
          <a:p>
            <a:fld id="{5F942D87-37C6-034C-8E31-3A777E6FE9B4}" type="datetimeFigureOut">
              <a:rPr lang="en-US" smtClean="0"/>
              <a:t>3/1/24</a:t>
            </a:fld>
            <a:endParaRPr lang="en-US"/>
          </a:p>
        </p:txBody>
      </p:sp>
      <p:sp>
        <p:nvSpPr>
          <p:cNvPr id="5" name="Footer Placeholder 4"/>
          <p:cNvSpPr>
            <a:spLocks noGrp="1"/>
          </p:cNvSpPr>
          <p:nvPr>
            <p:ph type="ftr" sz="quarter" idx="11"/>
          </p:nvPr>
        </p:nvSpPr>
        <p:spPr/>
        <p:txBody>
          <a:bodyPr/>
          <a:lstStyle/>
          <a:p>
            <a:endParaRPr lang="en-US"/>
          </a:p>
        </p:txBody>
      </p:sp>
      <p:sp>
        <p:nvSpPr>
          <p:cNvPr id="9" name="Picture Placeholder 8"/>
          <p:cNvSpPr>
            <a:spLocks noGrp="1"/>
          </p:cNvSpPr>
          <p:nvPr>
            <p:ph type="pic" sz="quarter" idx="13"/>
          </p:nvPr>
        </p:nvSpPr>
        <p:spPr>
          <a:xfrm>
            <a:off x="927100" y="1129553"/>
            <a:ext cx="6601968" cy="2980944"/>
          </a:xfrm>
        </p:spPr>
        <p:txBody>
          <a:bodyPr>
            <a:normAutofit/>
          </a:bodyPr>
          <a:lstStyle>
            <a:lvl1pPr marL="0" indent="0">
              <a:buNone/>
              <a:defRPr sz="1800"/>
            </a:lvl1pPr>
          </a:lstStyle>
          <a:p>
            <a:r>
              <a:rPr lang="en-US"/>
              <a:t>Click icon to add picture</a:t>
            </a:r>
            <a:endParaRPr/>
          </a:p>
        </p:txBody>
      </p:sp>
      <p:sp>
        <p:nvSpPr>
          <p:cNvPr id="7" name="Picture Placeholder 8"/>
          <p:cNvSpPr>
            <a:spLocks noGrp="1"/>
          </p:cNvSpPr>
          <p:nvPr>
            <p:ph type="pic" sz="quarter" idx="14"/>
          </p:nvPr>
        </p:nvSpPr>
        <p:spPr>
          <a:xfrm>
            <a:off x="7543800" y="1129553"/>
            <a:ext cx="1371600" cy="1481328"/>
          </a:xfrm>
        </p:spPr>
        <p:txBody>
          <a:bodyPr>
            <a:normAutofit/>
          </a:bodyPr>
          <a:lstStyle>
            <a:lvl1pPr marL="0" indent="0">
              <a:buNone/>
              <a:defRPr sz="1800"/>
            </a:lvl1pPr>
          </a:lstStyle>
          <a:p>
            <a:r>
              <a:rPr lang="en-US"/>
              <a:t>Click icon to add picture</a:t>
            </a:r>
            <a:endParaRPr/>
          </a:p>
        </p:txBody>
      </p:sp>
      <p:sp>
        <p:nvSpPr>
          <p:cNvPr id="8" name="Picture Placeholder 8"/>
          <p:cNvSpPr>
            <a:spLocks noGrp="1"/>
          </p:cNvSpPr>
          <p:nvPr>
            <p:ph type="pic" sz="quarter" idx="15"/>
          </p:nvPr>
        </p:nvSpPr>
        <p:spPr>
          <a:xfrm>
            <a:off x="7543800" y="2629169"/>
            <a:ext cx="1371600" cy="1481328"/>
          </a:xfrm>
        </p:spPr>
        <p:txBody>
          <a:bodyPr>
            <a:normAutofit/>
          </a:bodyPr>
          <a:lstStyle>
            <a:lvl1pPr marL="0" indent="0">
              <a:buNone/>
              <a:defRPr sz="1800"/>
            </a:lvl1pPr>
          </a:lstStyle>
          <a:p>
            <a:r>
              <a:rPr lang="en-US"/>
              <a:t>Click icon to add picture</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5F942D87-37C6-034C-8E31-3A777E6FE9B4}" type="datetimeFigureOut">
              <a:rPr lang="en-US" smtClean="0"/>
              <a:t>3/1/24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D1A621-E8D8-4445-A2A5-0F3CD88BFC28}"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87553" y="1129554"/>
            <a:ext cx="914400" cy="5533278"/>
          </a:xfrm>
        </p:spPr>
        <p:txBody>
          <a:bodyPr vert="eaVert" lIns="274320" tIns="685800" bIns="685800"/>
          <a:lstStyle/>
          <a:p>
            <a:r>
              <a:rPr lang="en-US"/>
              <a:t>Click to edit Master title style</a:t>
            </a:r>
            <a:endParaRPr/>
          </a:p>
        </p:txBody>
      </p:sp>
      <p:sp>
        <p:nvSpPr>
          <p:cNvPr id="3" name="Vertical Text Placeholder 2"/>
          <p:cNvSpPr>
            <a:spLocks noGrp="1"/>
          </p:cNvSpPr>
          <p:nvPr>
            <p:ph type="body" orient="vert" idx="1"/>
          </p:nvPr>
        </p:nvSpPr>
        <p:spPr>
          <a:xfrm>
            <a:off x="1117600" y="1734671"/>
            <a:ext cx="6426200" cy="454230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5F942D87-37C6-034C-8E31-3A777E6FE9B4}" type="datetimeFigureOut">
              <a:rPr lang="en-US" smtClean="0"/>
              <a:t>3/1/24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D1A621-E8D8-4445-A2A5-0F3CD88BFC28}"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1123856"/>
            <a:ext cx="8913813" cy="914400"/>
          </a:xfrm>
          <a:prstGeom prst="rect">
            <a:avLst/>
          </a:prstGeom>
          <a:solidFill>
            <a:schemeClr val="tx2"/>
          </a:solidFill>
        </p:spPr>
        <p:txBody>
          <a:bodyPr vert="horz" lIns="1188720" tIns="45720" rIns="274320" bIns="45720" rtlCol="0" anchor="ctr">
            <a:normAutofit/>
          </a:bodyPr>
          <a:lstStyle/>
          <a:p>
            <a:r>
              <a:rPr lang="en-US"/>
              <a:t>Click to edit Master title style</a:t>
            </a:r>
            <a:endParaRPr/>
          </a:p>
        </p:txBody>
      </p:sp>
      <p:sp>
        <p:nvSpPr>
          <p:cNvPr id="3" name="Text Placeholder 2"/>
          <p:cNvSpPr>
            <a:spLocks noGrp="1"/>
          </p:cNvSpPr>
          <p:nvPr>
            <p:ph type="body" idx="1"/>
          </p:nvPr>
        </p:nvSpPr>
        <p:spPr>
          <a:xfrm>
            <a:off x="1114424" y="2595562"/>
            <a:ext cx="7610476" cy="367076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6580094" y="188259"/>
            <a:ext cx="2133600" cy="365125"/>
          </a:xfrm>
          <a:prstGeom prst="rect">
            <a:avLst/>
          </a:prstGeom>
        </p:spPr>
        <p:txBody>
          <a:bodyPr vert="horz" lIns="91440" tIns="45720" rIns="91440" bIns="45720" rtlCol="0" anchor="ctr"/>
          <a:lstStyle>
            <a:lvl1pPr algn="r">
              <a:defRPr sz="1000">
                <a:solidFill>
                  <a:schemeClr val="tx1">
                    <a:lumMod val="65000"/>
                    <a:lumOff val="35000"/>
                  </a:schemeClr>
                </a:solidFill>
              </a:defRPr>
            </a:lvl1pPr>
          </a:lstStyle>
          <a:p>
            <a:fld id="{5F942D87-37C6-034C-8E31-3A777E6FE9B4}" type="datetimeFigureOut">
              <a:rPr lang="en-US" smtClean="0"/>
              <a:t>3/1/24</a:t>
            </a:fld>
            <a:endParaRPr lang="en-US"/>
          </a:p>
        </p:txBody>
      </p:sp>
      <p:sp>
        <p:nvSpPr>
          <p:cNvPr id="5" name="Footer Placeholder 4"/>
          <p:cNvSpPr>
            <a:spLocks noGrp="1"/>
          </p:cNvSpPr>
          <p:nvPr>
            <p:ph type="ftr" sz="quarter" idx="3"/>
          </p:nvPr>
        </p:nvSpPr>
        <p:spPr>
          <a:xfrm>
            <a:off x="1120588" y="188259"/>
            <a:ext cx="2895600" cy="365125"/>
          </a:xfrm>
          <a:prstGeom prst="rect">
            <a:avLst/>
          </a:prstGeom>
        </p:spPr>
        <p:txBody>
          <a:bodyPr vert="horz" lIns="91440" tIns="45720" rIns="91440" bIns="45720" rtlCol="0" anchor="ctr"/>
          <a:lstStyle>
            <a:lvl1pPr algn="l">
              <a:defRPr sz="1000">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8789894" y="6569075"/>
            <a:ext cx="457200" cy="365125"/>
          </a:xfrm>
          <a:prstGeom prst="rect">
            <a:avLst/>
          </a:prstGeom>
        </p:spPr>
        <p:txBody>
          <a:bodyPr vert="horz" lIns="91440" tIns="45720" rIns="91440" bIns="45720" rtlCol="0" anchor="ctr"/>
          <a:lstStyle>
            <a:lvl1pPr algn="ctr">
              <a:defRPr sz="800">
                <a:solidFill>
                  <a:schemeClr val="tx1">
                    <a:lumMod val="65000"/>
                    <a:lumOff val="35000"/>
                  </a:schemeClr>
                </a:solidFill>
              </a:defRPr>
            </a:lvl1pPr>
          </a:lstStyle>
          <a:p>
            <a:fld id="{E5D1A621-E8D8-4445-A2A5-0F3CD88BFC28}" type="slidenum">
              <a:rPr lang="en-US" smtClean="0"/>
              <a:t>‹#›</a:t>
            </a:fld>
            <a:endParaRPr lang="en-US"/>
          </a:p>
        </p:txBody>
      </p:sp>
      <p:sp>
        <p:nvSpPr>
          <p:cNvPr id="7" name="Rectangle 6"/>
          <p:cNvSpPr/>
          <p:nvPr/>
        </p:nvSpPr>
        <p:spPr>
          <a:xfrm>
            <a:off x="914400" y="0"/>
            <a:ext cx="7999413" cy="182880"/>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914400" y="6675120"/>
            <a:ext cx="7999413" cy="18288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txStyles>
    <p:titleStyle>
      <a:lvl1pPr marL="0" indent="0" algn="l" defTabSz="914400" rtl="0" eaLnBrk="1" latinLnBrk="0" hangingPunct="1">
        <a:spcBef>
          <a:spcPct val="0"/>
        </a:spcBef>
        <a:buNone/>
        <a:defRPr sz="3600" kern="1200">
          <a:solidFill>
            <a:schemeClr val="bg1"/>
          </a:solidFill>
          <a:latin typeface="+mj-lt"/>
          <a:ea typeface="+mj-ea"/>
          <a:cs typeface="+mj-cs"/>
        </a:defRPr>
      </a:lvl1pPr>
    </p:titleStyle>
    <p:body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wiki.gis.com/wiki/index.php/File:Ems.png"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www.whysel.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Semiotics, Mapping and Emergencies</a:t>
            </a:r>
          </a:p>
        </p:txBody>
      </p:sp>
      <p:sp>
        <p:nvSpPr>
          <p:cNvPr id="3" name="Subtitle 2"/>
          <p:cNvSpPr>
            <a:spLocks noGrp="1"/>
          </p:cNvSpPr>
          <p:nvPr>
            <p:ph type="subTitle" idx="1"/>
          </p:nvPr>
        </p:nvSpPr>
        <p:spPr/>
        <p:txBody>
          <a:bodyPr/>
          <a:lstStyle/>
          <a:p>
            <a:r>
              <a:rPr lang="en-US" dirty="0"/>
              <a:t>Signs, Symbols and Information Architecture</a:t>
            </a:r>
          </a:p>
          <a:p>
            <a:endParaRPr lang="en-US" dirty="0"/>
          </a:p>
          <a:p>
            <a:r>
              <a:rPr lang="en-US" dirty="0"/>
              <a:t>Noreen Whysel</a:t>
            </a:r>
            <a:br>
              <a:rPr lang="en-US" dirty="0"/>
            </a:br>
            <a:r>
              <a:rPr lang="en-US" dirty="0"/>
              <a:t>New York Public Library, Morningside Branch</a:t>
            </a:r>
            <a:br>
              <a:rPr lang="en-US" dirty="0"/>
            </a:br>
            <a:r>
              <a:rPr lang="en-US" dirty="0"/>
              <a:t>November 1, 2014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Mapping </a:t>
            </a:r>
            <a:r>
              <a:rPr lang="en-US" dirty="0" err="1"/>
              <a:t>Symbology</a:t>
            </a:r>
            <a:endParaRPr lang="en-US" dirty="0"/>
          </a:p>
        </p:txBody>
      </p:sp>
      <p:sp>
        <p:nvSpPr>
          <p:cNvPr id="3" name="Content Placeholder 2"/>
          <p:cNvSpPr>
            <a:spLocks noGrp="1"/>
          </p:cNvSpPr>
          <p:nvPr>
            <p:ph idx="1"/>
          </p:nvPr>
        </p:nvSpPr>
        <p:spPr/>
        <p:txBody>
          <a:bodyPr/>
          <a:lstStyle/>
          <a:p>
            <a:r>
              <a:rPr lang="en-US" dirty="0"/>
              <a:t>Features of the real world symbolized on maps as:</a:t>
            </a:r>
            <a:br>
              <a:rPr lang="en-US" dirty="0"/>
            </a:br>
            <a:endParaRPr lang="en-US" dirty="0"/>
          </a:p>
          <a:p>
            <a:pPr lvl="1"/>
            <a:r>
              <a:rPr lang="en-US" dirty="0"/>
              <a:t>Points</a:t>
            </a:r>
          </a:p>
          <a:p>
            <a:pPr lvl="1"/>
            <a:r>
              <a:rPr lang="en-US" dirty="0"/>
              <a:t>Lines</a:t>
            </a:r>
          </a:p>
          <a:p>
            <a:pPr lvl="1"/>
            <a:r>
              <a:rPr lang="en-US" dirty="0"/>
              <a:t>Areas</a:t>
            </a:r>
          </a:p>
        </p:txBody>
      </p:sp>
      <p:pic>
        <p:nvPicPr>
          <p:cNvPr id="4" name="Picture 3" descr="Screen Shot 2014-11-01 at 11.19.53 AM.png"/>
          <p:cNvPicPr>
            <a:picLocks noChangeAspect="1"/>
          </p:cNvPicPr>
          <p:nvPr/>
        </p:nvPicPr>
        <p:blipFill>
          <a:blip r:embed="rId3"/>
          <a:stretch>
            <a:fillRect/>
          </a:stretch>
        </p:blipFill>
        <p:spPr>
          <a:xfrm>
            <a:off x="2837658" y="3192175"/>
            <a:ext cx="5393118" cy="3208061"/>
          </a:xfrm>
          <a:prstGeom prst="rect">
            <a:avLst/>
          </a:prstGeom>
        </p:spPr>
      </p:pic>
      <p:sp>
        <p:nvSpPr>
          <p:cNvPr id="5" name="TextBox 4"/>
          <p:cNvSpPr txBox="1"/>
          <p:nvPr/>
        </p:nvSpPr>
        <p:spPr>
          <a:xfrm>
            <a:off x="873124" y="6591300"/>
            <a:ext cx="6116553" cy="307777"/>
          </a:xfrm>
          <a:prstGeom prst="rect">
            <a:avLst/>
          </a:prstGeom>
          <a:noFill/>
        </p:spPr>
        <p:txBody>
          <a:bodyPr wrap="none" rtlCol="0">
            <a:spAutoFit/>
          </a:bodyPr>
          <a:lstStyle/>
          <a:p>
            <a:r>
              <a:rPr lang="en-US" sz="1400" dirty="0"/>
              <a:t>Source: Semiotics. GIS Wiki. http://</a:t>
            </a:r>
            <a:r>
              <a:rPr lang="en-US" sz="1400" dirty="0" err="1"/>
              <a:t>gis.com/wiki/index.php/Semiotics</a:t>
            </a:r>
            <a:r>
              <a:rPr lang="en-US" sz="1400" dirty="0"/>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Geographic Information Systems</a:t>
            </a:r>
          </a:p>
        </p:txBody>
      </p:sp>
      <p:sp>
        <p:nvSpPr>
          <p:cNvPr id="3" name="Content Placeholder 2"/>
          <p:cNvSpPr>
            <a:spLocks noGrp="1"/>
          </p:cNvSpPr>
          <p:nvPr>
            <p:ph idx="1"/>
          </p:nvPr>
        </p:nvSpPr>
        <p:spPr/>
        <p:txBody>
          <a:bodyPr/>
          <a:lstStyle/>
          <a:p>
            <a:r>
              <a:rPr lang="en-US" dirty="0"/>
              <a:t>Cartographic symbols represent</a:t>
            </a:r>
            <a:br>
              <a:rPr lang="en-US" dirty="0"/>
            </a:br>
            <a:endParaRPr lang="en-US" dirty="0"/>
          </a:p>
          <a:p>
            <a:pPr lvl="1"/>
            <a:r>
              <a:rPr lang="en-US" dirty="0"/>
              <a:t>Direction</a:t>
            </a:r>
          </a:p>
          <a:p>
            <a:pPr lvl="1"/>
            <a:r>
              <a:rPr lang="en-US" dirty="0"/>
              <a:t>Location</a:t>
            </a:r>
          </a:p>
          <a:p>
            <a:pPr lvl="1"/>
            <a:r>
              <a:rPr lang="en-US" dirty="0"/>
              <a:t>Distance</a:t>
            </a:r>
          </a:p>
          <a:p>
            <a:pPr lvl="1"/>
            <a:r>
              <a:rPr lang="en-US" dirty="0"/>
              <a:t>Function</a:t>
            </a:r>
          </a:p>
        </p:txBody>
      </p:sp>
      <p:sp>
        <p:nvSpPr>
          <p:cNvPr id="4" name="TextBox 3"/>
          <p:cNvSpPr txBox="1"/>
          <p:nvPr/>
        </p:nvSpPr>
        <p:spPr>
          <a:xfrm>
            <a:off x="873124" y="6591300"/>
            <a:ext cx="6116553" cy="307777"/>
          </a:xfrm>
          <a:prstGeom prst="rect">
            <a:avLst/>
          </a:prstGeom>
          <a:noFill/>
        </p:spPr>
        <p:txBody>
          <a:bodyPr wrap="none" rtlCol="0">
            <a:spAutoFit/>
          </a:bodyPr>
          <a:lstStyle/>
          <a:p>
            <a:r>
              <a:rPr lang="en-US" sz="1400" dirty="0"/>
              <a:t>Source: Semiotics. GIS Wiki. http://</a:t>
            </a:r>
            <a:r>
              <a:rPr lang="en-US" sz="1400" dirty="0" err="1"/>
              <a:t>gis.com/wiki/index.php/Semiotics</a:t>
            </a:r>
            <a:r>
              <a:rPr lang="en-US" sz="1400" dirty="0"/>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Branches of Semiotics</a:t>
            </a:r>
          </a:p>
        </p:txBody>
      </p:sp>
      <p:sp>
        <p:nvSpPr>
          <p:cNvPr id="3" name="Content Placeholder 2"/>
          <p:cNvSpPr>
            <a:spLocks noGrp="1"/>
          </p:cNvSpPr>
          <p:nvPr>
            <p:ph idx="1"/>
          </p:nvPr>
        </p:nvSpPr>
        <p:spPr/>
        <p:txBody>
          <a:bodyPr/>
          <a:lstStyle/>
          <a:p>
            <a:r>
              <a:rPr lang="en-US" dirty="0"/>
              <a:t>Syntax: Relation between objects on a map and the real world.</a:t>
            </a:r>
          </a:p>
          <a:p>
            <a:r>
              <a:rPr lang="en-US" dirty="0"/>
              <a:t>Semantics: Relation between objects on a map and the data they represent.</a:t>
            </a:r>
          </a:p>
          <a:p>
            <a:r>
              <a:rPr lang="en-US" dirty="0"/>
              <a:t>Pragmatics: Relation between the objects and the person viewing the map.</a:t>
            </a:r>
          </a:p>
        </p:txBody>
      </p:sp>
      <p:sp>
        <p:nvSpPr>
          <p:cNvPr id="4" name="TextBox 3"/>
          <p:cNvSpPr txBox="1"/>
          <p:nvPr/>
        </p:nvSpPr>
        <p:spPr>
          <a:xfrm>
            <a:off x="873124" y="6591300"/>
            <a:ext cx="6116553" cy="307777"/>
          </a:xfrm>
          <a:prstGeom prst="rect">
            <a:avLst/>
          </a:prstGeom>
          <a:noFill/>
        </p:spPr>
        <p:txBody>
          <a:bodyPr wrap="none" rtlCol="0">
            <a:spAutoFit/>
          </a:bodyPr>
          <a:lstStyle/>
          <a:p>
            <a:r>
              <a:rPr lang="en-US" sz="1400" dirty="0"/>
              <a:t>Source: Semiotics. GIS Wiki. http://</a:t>
            </a:r>
            <a:r>
              <a:rPr lang="en-US" sz="1400" dirty="0" err="1"/>
              <a:t>gis.com/wiki/index.php/Semiotics</a:t>
            </a:r>
            <a:r>
              <a:rPr lang="en-US" sz="1400" dirty="0"/>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Syntax</a:t>
            </a:r>
          </a:p>
        </p:txBody>
      </p:sp>
      <p:pic>
        <p:nvPicPr>
          <p:cNvPr id="4" name="Content Placeholder 3" descr="Screen Shot 2014-11-01 at 11.19.53 AM.png"/>
          <p:cNvPicPr>
            <a:picLocks noGrp="1" noChangeAspect="1"/>
          </p:cNvPicPr>
          <p:nvPr>
            <p:ph idx="1"/>
          </p:nvPr>
        </p:nvPicPr>
        <p:blipFill>
          <a:blip r:embed="rId3"/>
          <a:srcRect l="-11671" r="-11671"/>
          <a:stretch>
            <a:fillRect/>
          </a:stretch>
        </p:blipFill>
        <p:spPr>
          <a:xfrm>
            <a:off x="203199" y="2156052"/>
            <a:ext cx="9063797" cy="4371748"/>
          </a:xfr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Semantics</a:t>
            </a:r>
          </a:p>
        </p:txBody>
      </p:sp>
      <p:sp>
        <p:nvSpPr>
          <p:cNvPr id="5" name="Content Placeholder 4"/>
          <p:cNvSpPr>
            <a:spLocks noGrp="1"/>
          </p:cNvSpPr>
          <p:nvPr>
            <p:ph idx="1"/>
          </p:nvPr>
        </p:nvSpPr>
        <p:spPr/>
        <p:txBody>
          <a:bodyPr/>
          <a:lstStyle/>
          <a:p>
            <a:r>
              <a:rPr lang="en-US" dirty="0"/>
              <a:t>Blue Rivers and </a:t>
            </a:r>
            <a:br>
              <a:rPr lang="en-US" dirty="0"/>
            </a:br>
            <a:r>
              <a:rPr lang="en-US" dirty="0"/>
              <a:t>Bodies of Water</a:t>
            </a:r>
          </a:p>
          <a:p>
            <a:r>
              <a:rPr lang="en-US" dirty="0"/>
              <a:t>Compass Rose pointing</a:t>
            </a:r>
            <a:br>
              <a:rPr lang="en-US" dirty="0"/>
            </a:br>
            <a:r>
              <a:rPr lang="en-US" dirty="0"/>
              <a:t>North</a:t>
            </a:r>
          </a:p>
          <a:p>
            <a:r>
              <a:rPr lang="en-US" dirty="0"/>
              <a:t>Distance gauge</a:t>
            </a:r>
          </a:p>
          <a:p>
            <a:r>
              <a:rPr lang="en-US" dirty="0"/>
              <a:t>Identifying Labels</a:t>
            </a:r>
          </a:p>
          <a:p>
            <a:r>
              <a:rPr lang="en-US" dirty="0"/>
              <a:t>Population Areas</a:t>
            </a:r>
          </a:p>
          <a:p>
            <a:endParaRPr lang="en-US" dirty="0"/>
          </a:p>
        </p:txBody>
      </p:sp>
      <p:sp>
        <p:nvSpPr>
          <p:cNvPr id="6" name="TextBox 5"/>
          <p:cNvSpPr txBox="1"/>
          <p:nvPr/>
        </p:nvSpPr>
        <p:spPr>
          <a:xfrm>
            <a:off x="873124" y="6591300"/>
            <a:ext cx="6237267" cy="307777"/>
          </a:xfrm>
          <a:prstGeom prst="rect">
            <a:avLst/>
          </a:prstGeom>
          <a:noFill/>
        </p:spPr>
        <p:txBody>
          <a:bodyPr wrap="none" rtlCol="0">
            <a:spAutoFit/>
          </a:bodyPr>
          <a:lstStyle/>
          <a:p>
            <a:pPr lvl="0"/>
            <a:r>
              <a:rPr lang="en-US" sz="1400" dirty="0"/>
              <a:t>Source: 1869 Kitchen - Shannon Map of New York City. </a:t>
            </a:r>
            <a:r>
              <a:rPr lang="en-US" sz="1400" dirty="0" err="1"/>
              <a:t>Geographicus</a:t>
            </a:r>
            <a:r>
              <a:rPr lang="en-US" sz="1400" dirty="0"/>
              <a:t>. </a:t>
            </a:r>
          </a:p>
        </p:txBody>
      </p:sp>
      <p:pic>
        <p:nvPicPr>
          <p:cNvPr id="9" name="Picture 8"/>
          <p:cNvPicPr>
            <a:picLocks noChangeAspect="1"/>
          </p:cNvPicPr>
          <p:nvPr/>
        </p:nvPicPr>
        <p:blipFill>
          <a:blip r:embed="rId3"/>
          <a:stretch>
            <a:fillRect/>
          </a:stretch>
        </p:blipFill>
        <p:spPr>
          <a:xfrm>
            <a:off x="4624685" y="2165256"/>
            <a:ext cx="3464619" cy="427017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860424" y="6380490"/>
            <a:ext cx="8152993" cy="523220"/>
          </a:xfrm>
          <a:prstGeom prst="rect">
            <a:avLst/>
          </a:prstGeom>
          <a:noFill/>
        </p:spPr>
        <p:txBody>
          <a:bodyPr wrap="none" rtlCol="0">
            <a:spAutoFit/>
          </a:bodyPr>
          <a:lstStyle/>
          <a:p>
            <a:r>
              <a:rPr lang="en-US" sz="1400" dirty="0"/>
              <a:t>Source: Massimo </a:t>
            </a:r>
            <a:r>
              <a:rPr lang="en-US" sz="1400" dirty="0" err="1"/>
              <a:t>Vignelli’s</a:t>
            </a:r>
            <a:r>
              <a:rPr lang="en-US" sz="1400" dirty="0"/>
              <a:t> Iconic 1972 NYC Subway Map </a:t>
            </a:r>
          </a:p>
          <a:p>
            <a:r>
              <a:rPr lang="en-US" sz="1400" dirty="0"/>
              <a:t>http://cdn8.openculture.com/wp-content/uploads/2014/05/vignelli-subway-map-19721.jpg</a:t>
            </a:r>
          </a:p>
        </p:txBody>
      </p:sp>
      <p:sp>
        <p:nvSpPr>
          <p:cNvPr id="6" name="Title 1"/>
          <p:cNvSpPr>
            <a:spLocks noGrp="1"/>
          </p:cNvSpPr>
          <p:nvPr>
            <p:ph type="title"/>
          </p:nvPr>
        </p:nvSpPr>
        <p:spPr>
          <a:xfrm>
            <a:off x="0" y="1123856"/>
            <a:ext cx="8913813" cy="914400"/>
          </a:xfrm>
        </p:spPr>
        <p:txBody>
          <a:bodyPr/>
          <a:lstStyle/>
          <a:p>
            <a:endParaRPr lang="en-US" dirty="0"/>
          </a:p>
        </p:txBody>
      </p:sp>
      <p:pic>
        <p:nvPicPr>
          <p:cNvPr id="4" name="Picture 3"/>
          <p:cNvPicPr>
            <a:picLocks noChangeAspect="1"/>
          </p:cNvPicPr>
          <p:nvPr/>
        </p:nvPicPr>
        <p:blipFill>
          <a:blip r:embed="rId3"/>
          <a:stretch>
            <a:fillRect/>
          </a:stretch>
        </p:blipFill>
        <p:spPr>
          <a:xfrm>
            <a:off x="2412424" y="2132945"/>
            <a:ext cx="4088964" cy="415285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Pragmatics</a:t>
            </a:r>
          </a:p>
        </p:txBody>
      </p:sp>
      <p:sp>
        <p:nvSpPr>
          <p:cNvPr id="3" name="Content Placeholder 2"/>
          <p:cNvSpPr>
            <a:spLocks noGrp="1"/>
          </p:cNvSpPr>
          <p:nvPr>
            <p:ph idx="1"/>
          </p:nvPr>
        </p:nvSpPr>
        <p:spPr/>
        <p:txBody>
          <a:bodyPr/>
          <a:lstStyle/>
          <a:p>
            <a:r>
              <a:rPr lang="en-US" dirty="0"/>
              <a:t>How the map user responds to the map </a:t>
            </a:r>
            <a:r>
              <a:rPr lang="en-US" dirty="0" err="1"/>
              <a:t>symbology</a:t>
            </a:r>
            <a:r>
              <a:rPr lang="en-US" dirty="0"/>
              <a:t>.</a:t>
            </a:r>
          </a:p>
          <a:p>
            <a:r>
              <a:rPr lang="en-US" dirty="0"/>
              <a:t>Context</a:t>
            </a:r>
          </a:p>
          <a:p>
            <a:r>
              <a:rPr lang="en-US" dirty="0"/>
              <a:t>Mental Model</a:t>
            </a:r>
          </a:p>
          <a:p>
            <a:r>
              <a:rPr lang="en-US" dirty="0"/>
              <a:t>e.g., </a:t>
            </a:r>
            <a:r>
              <a:rPr lang="en-US" dirty="0" err="1"/>
              <a:t>Wayfinding</a:t>
            </a:r>
            <a:endParaRPr lang="en-US" dirty="0"/>
          </a:p>
          <a:p>
            <a:endParaRPr lang="en-US" dirty="0"/>
          </a:p>
          <a:p>
            <a:endParaRPr lang="en-US" dirty="0"/>
          </a:p>
        </p:txBody>
      </p:sp>
      <p:pic>
        <p:nvPicPr>
          <p:cNvPr id="5" name="Picture 4"/>
          <p:cNvPicPr>
            <a:picLocks noChangeAspect="1"/>
          </p:cNvPicPr>
          <p:nvPr/>
        </p:nvPicPr>
        <p:blipFill>
          <a:blip r:embed="rId3"/>
          <a:stretch>
            <a:fillRect/>
          </a:stretch>
        </p:blipFill>
        <p:spPr>
          <a:xfrm>
            <a:off x="4572000" y="3713629"/>
            <a:ext cx="3187700" cy="25527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Pragmatics</a:t>
            </a:r>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5456688" y="2762411"/>
            <a:ext cx="2463800" cy="3302000"/>
          </a:xfrm>
          <a:prstGeom prst="rect">
            <a:avLst/>
          </a:prstGeom>
        </p:spPr>
      </p:pic>
      <p:pic>
        <p:nvPicPr>
          <p:cNvPr id="5" name="Picture 4"/>
          <p:cNvPicPr>
            <a:picLocks noChangeAspect="1"/>
          </p:cNvPicPr>
          <p:nvPr/>
        </p:nvPicPr>
        <p:blipFill>
          <a:blip r:embed="rId3"/>
          <a:stretch>
            <a:fillRect/>
          </a:stretch>
        </p:blipFill>
        <p:spPr>
          <a:xfrm>
            <a:off x="1282700" y="3234846"/>
            <a:ext cx="3289300" cy="24638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Semiology</a:t>
            </a:r>
            <a:r>
              <a:rPr lang="en-US" dirty="0"/>
              <a:t> of Graphics</a:t>
            </a:r>
          </a:p>
        </p:txBody>
      </p:sp>
      <p:sp>
        <p:nvSpPr>
          <p:cNvPr id="3" name="Content Placeholder 2"/>
          <p:cNvSpPr>
            <a:spLocks noGrp="1"/>
          </p:cNvSpPr>
          <p:nvPr>
            <p:ph idx="1"/>
          </p:nvPr>
        </p:nvSpPr>
        <p:spPr/>
        <p:txBody>
          <a:bodyPr>
            <a:normAutofit/>
          </a:bodyPr>
          <a:lstStyle/>
          <a:p>
            <a:pPr lvl="0" fontAlgn="base"/>
            <a:r>
              <a:rPr lang="en-US" dirty="0"/>
              <a:t>Jacques </a:t>
            </a:r>
            <a:r>
              <a:rPr lang="en-US" dirty="0" err="1"/>
              <a:t>Bertin</a:t>
            </a:r>
            <a:r>
              <a:rPr lang="en-US" dirty="0"/>
              <a:t>. </a:t>
            </a:r>
            <a:r>
              <a:rPr lang="en-US" i="1" dirty="0" err="1"/>
              <a:t>Semiology</a:t>
            </a:r>
            <a:r>
              <a:rPr lang="en-US" i="1" dirty="0"/>
              <a:t> of Graphics</a:t>
            </a:r>
            <a:r>
              <a:rPr lang="en-US" dirty="0"/>
              <a:t>. 1967.</a:t>
            </a:r>
            <a:br>
              <a:rPr lang="en-US" dirty="0"/>
            </a:br>
            <a:endParaRPr lang="en-US" dirty="0"/>
          </a:p>
          <a:p>
            <a:pPr lvl="1" fontAlgn="base"/>
            <a:r>
              <a:rPr lang="en-US" b="1" dirty="0" err="1"/>
              <a:t>Monosemic</a:t>
            </a:r>
            <a:r>
              <a:rPr lang="en-US" dirty="0"/>
              <a:t>: “A system is </a:t>
            </a:r>
            <a:r>
              <a:rPr lang="en-US" dirty="0" err="1"/>
              <a:t>monosemic</a:t>
            </a:r>
            <a:r>
              <a:rPr lang="en-US" dirty="0"/>
              <a:t> when the meaning of each sign is known prior to observation of the collection of </a:t>
            </a:r>
            <a:r>
              <a:rPr lang="en-US" dirty="0" err="1"/>
              <a:t>signs.”[citation</a:t>
            </a:r>
            <a:r>
              <a:rPr lang="en-US" dirty="0"/>
              <a:t> needed] An example of a </a:t>
            </a:r>
            <a:r>
              <a:rPr lang="en-US" dirty="0" err="1"/>
              <a:t>monosemic</a:t>
            </a:r>
            <a:r>
              <a:rPr lang="en-US" dirty="0"/>
              <a:t> sign is a mathematical problem, a painting, or a map.</a:t>
            </a:r>
            <a:br>
              <a:rPr lang="en-US" dirty="0"/>
            </a:br>
            <a:endParaRPr lang="en-US" dirty="0"/>
          </a:p>
          <a:p>
            <a:pPr lvl="1" fontAlgn="base"/>
            <a:r>
              <a:rPr lang="en-US" dirty="0" err="1"/>
              <a:t>Monosemic</a:t>
            </a:r>
            <a:r>
              <a:rPr lang="en-US" dirty="0"/>
              <a:t> is when the meaning of a sign was understood beforehand (Google map) </a:t>
            </a:r>
          </a:p>
        </p:txBody>
      </p:sp>
      <p:sp>
        <p:nvSpPr>
          <p:cNvPr id="4" name="TextBox 3"/>
          <p:cNvSpPr txBox="1"/>
          <p:nvPr/>
        </p:nvSpPr>
        <p:spPr>
          <a:xfrm>
            <a:off x="873124" y="6591300"/>
            <a:ext cx="6116553" cy="307777"/>
          </a:xfrm>
          <a:prstGeom prst="rect">
            <a:avLst/>
          </a:prstGeom>
          <a:noFill/>
        </p:spPr>
        <p:txBody>
          <a:bodyPr wrap="none" rtlCol="0">
            <a:spAutoFit/>
          </a:bodyPr>
          <a:lstStyle/>
          <a:p>
            <a:r>
              <a:rPr lang="en-US" sz="1400" dirty="0"/>
              <a:t>Source: Semiotics. GIS Wiki. http://</a:t>
            </a:r>
            <a:r>
              <a:rPr lang="en-US" sz="1400" dirty="0" err="1"/>
              <a:t>gis.com/wiki/index.php/Semiotics</a:t>
            </a:r>
            <a:r>
              <a:rPr lang="en-US" sz="1400" dirty="0"/>
              <a:t>/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Semiology</a:t>
            </a:r>
            <a:r>
              <a:rPr lang="en-US" dirty="0"/>
              <a:t> of Graphics</a:t>
            </a:r>
          </a:p>
        </p:txBody>
      </p:sp>
      <p:sp>
        <p:nvSpPr>
          <p:cNvPr id="3" name="Content Placeholder 2"/>
          <p:cNvSpPr>
            <a:spLocks noGrp="1"/>
          </p:cNvSpPr>
          <p:nvPr>
            <p:ph idx="1"/>
          </p:nvPr>
        </p:nvSpPr>
        <p:spPr/>
        <p:txBody>
          <a:bodyPr>
            <a:normAutofit/>
          </a:bodyPr>
          <a:lstStyle/>
          <a:p>
            <a:pPr lvl="0" fontAlgn="base"/>
            <a:r>
              <a:rPr lang="en-US" dirty="0"/>
              <a:t>Jacques </a:t>
            </a:r>
            <a:r>
              <a:rPr lang="en-US" dirty="0" err="1"/>
              <a:t>Bertin</a:t>
            </a:r>
            <a:r>
              <a:rPr lang="en-US" dirty="0"/>
              <a:t>. </a:t>
            </a:r>
            <a:r>
              <a:rPr lang="en-US" i="1" dirty="0" err="1"/>
              <a:t>Semiology</a:t>
            </a:r>
            <a:r>
              <a:rPr lang="en-US" i="1" dirty="0"/>
              <a:t> of Graphics</a:t>
            </a:r>
            <a:r>
              <a:rPr lang="en-US" dirty="0"/>
              <a:t>. 1967.</a:t>
            </a:r>
            <a:br>
              <a:rPr lang="en-US" dirty="0"/>
            </a:br>
            <a:endParaRPr lang="en-US" dirty="0"/>
          </a:p>
          <a:p>
            <a:pPr lvl="1" fontAlgn="base"/>
            <a:r>
              <a:rPr lang="en-US" b="1" dirty="0" err="1"/>
              <a:t>Polysemic</a:t>
            </a:r>
            <a:r>
              <a:rPr lang="en-US" dirty="0"/>
              <a:t>: “A system is </a:t>
            </a:r>
            <a:r>
              <a:rPr lang="en-US" dirty="0" err="1"/>
              <a:t>polysemic</a:t>
            </a:r>
            <a:r>
              <a:rPr lang="en-US" dirty="0"/>
              <a:t> when the meaning of the individual signs follows and is deduced from considerations of the collection of </a:t>
            </a:r>
            <a:r>
              <a:rPr lang="en-US" dirty="0" err="1"/>
              <a:t>signs.”[citation</a:t>
            </a:r>
            <a:r>
              <a:rPr lang="en-US" dirty="0"/>
              <a:t> </a:t>
            </a:r>
            <a:r>
              <a:rPr lang="en-US" dirty="0" err="1"/>
              <a:t>needed]An</a:t>
            </a:r>
            <a:r>
              <a:rPr lang="en-US" dirty="0"/>
              <a:t> example of </a:t>
            </a:r>
            <a:r>
              <a:rPr lang="en-US" dirty="0" err="1"/>
              <a:t>polysemic</a:t>
            </a:r>
            <a:r>
              <a:rPr lang="en-US" dirty="0"/>
              <a:t> is a an abstract painting or a verbal expression.</a:t>
            </a:r>
            <a:br>
              <a:rPr lang="en-US" dirty="0"/>
            </a:br>
            <a:endParaRPr lang="en-US" dirty="0"/>
          </a:p>
          <a:p>
            <a:pPr lvl="1" fontAlgn="base"/>
            <a:r>
              <a:rPr lang="en-US" dirty="0" err="1"/>
              <a:t>Polysemic</a:t>
            </a:r>
            <a:r>
              <a:rPr lang="en-US" dirty="0"/>
              <a:t> is when the sign is better understood after studying the sign (Yelp Monocle or Massimo’s subway map, unusual orientations).</a:t>
            </a:r>
          </a:p>
          <a:p>
            <a:pPr lvl="1" fontAlgn="base"/>
            <a:endParaRPr lang="en-US" dirty="0"/>
          </a:p>
        </p:txBody>
      </p:sp>
      <p:sp>
        <p:nvSpPr>
          <p:cNvPr id="4" name="TextBox 3"/>
          <p:cNvSpPr txBox="1"/>
          <p:nvPr/>
        </p:nvSpPr>
        <p:spPr>
          <a:xfrm>
            <a:off x="873124" y="6591300"/>
            <a:ext cx="6116553" cy="307777"/>
          </a:xfrm>
          <a:prstGeom prst="rect">
            <a:avLst/>
          </a:prstGeom>
          <a:noFill/>
        </p:spPr>
        <p:txBody>
          <a:bodyPr wrap="none" rtlCol="0">
            <a:spAutoFit/>
          </a:bodyPr>
          <a:lstStyle/>
          <a:p>
            <a:r>
              <a:rPr lang="en-US" sz="1400" dirty="0"/>
              <a:t>Source: Semiotics. GIS Wiki. http://</a:t>
            </a:r>
            <a:r>
              <a:rPr lang="en-US" sz="1400" dirty="0" err="1"/>
              <a:t>gis.com/wiki/index.php/Semiotics</a:t>
            </a:r>
            <a:r>
              <a:rPr lang="en-US" sz="1400" dirty="0"/>
              <a:t>/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Semiotics and Emergency Response</a:t>
            </a:r>
          </a:p>
        </p:txBody>
      </p:sp>
      <p:sp>
        <p:nvSpPr>
          <p:cNvPr id="3" name="Content Placeholder 2"/>
          <p:cNvSpPr>
            <a:spLocks noGrp="1"/>
          </p:cNvSpPr>
          <p:nvPr>
            <p:ph type="body" idx="1"/>
          </p:nvPr>
        </p:nvSpPr>
        <p:spPr/>
        <p:txBody>
          <a:bodyPr/>
          <a:lstStyle/>
          <a:p>
            <a:pPr>
              <a:buNone/>
            </a:pP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p:cNvGrpSpPr/>
        <p:nvPr/>
      </p:nvGrpSpPr>
      <p:grpSpPr>
        <a:xfrm>
          <a:off x="0" y="0"/>
          <a:ext cx="0" cy="0"/>
          <a:chOff x="0" y="0"/>
          <a:chExt cx="0" cy="0"/>
        </a:xfrm>
      </p:grpSpPr>
      <p:sp>
        <p:nvSpPr>
          <p:cNvPr id="2" name="TextBox 1"/>
          <p:cNvSpPr txBox="1"/>
          <p:nvPr/>
        </p:nvSpPr>
        <p:spPr>
          <a:xfrm>
            <a:off x="1536700" y="1816100"/>
            <a:ext cx="5816600" cy="3170099"/>
          </a:xfrm>
          <a:prstGeom prst="rect">
            <a:avLst/>
          </a:prstGeom>
          <a:noFill/>
        </p:spPr>
        <p:txBody>
          <a:bodyPr wrap="square" rtlCol="0">
            <a:spAutoFit/>
          </a:bodyPr>
          <a:lstStyle/>
          <a:p>
            <a:pPr algn="ctr"/>
            <a:r>
              <a:rPr lang="en-US" sz="20000" dirty="0">
                <a:solidFill>
                  <a:schemeClr val="bg1"/>
                </a:solidFill>
              </a:rPr>
              <a:t>RED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12700" y="0"/>
            <a:ext cx="9108567" cy="6324600"/>
          </a:xfrm>
          <a:prstGeom prst="rect">
            <a:avLst/>
          </a:prstGeom>
        </p:spPr>
      </p:pic>
      <p:sp>
        <p:nvSpPr>
          <p:cNvPr id="5" name="TextBox 4"/>
          <p:cNvSpPr txBox="1"/>
          <p:nvPr/>
        </p:nvSpPr>
        <p:spPr>
          <a:xfrm>
            <a:off x="0" y="6550447"/>
            <a:ext cx="4642479" cy="307777"/>
          </a:xfrm>
          <a:prstGeom prst="rect">
            <a:avLst/>
          </a:prstGeom>
          <a:noFill/>
        </p:spPr>
        <p:txBody>
          <a:bodyPr wrap="none" rtlCol="0">
            <a:spAutoFit/>
          </a:bodyPr>
          <a:lstStyle/>
          <a:p>
            <a:r>
              <a:rPr lang="en-US" sz="1400" dirty="0"/>
              <a:t>Source: </a:t>
            </a:r>
            <a:r>
              <a:rPr lang="en-US" sz="1400" dirty="0" err="1"/>
              <a:t>Colours</a:t>
            </a:r>
            <a:r>
              <a:rPr lang="en-US" sz="1400" dirty="0"/>
              <a:t> in Cultures. Information is Beautiful</a:t>
            </a:r>
          </a:p>
        </p:txBody>
      </p:sp>
      <p:cxnSp>
        <p:nvCxnSpPr>
          <p:cNvPr id="7" name="Straight Connector 6"/>
          <p:cNvCxnSpPr/>
          <p:nvPr/>
        </p:nvCxnSpPr>
        <p:spPr>
          <a:xfrm>
            <a:off x="165100" y="2676293"/>
            <a:ext cx="1883211" cy="232127"/>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a:off x="165100" y="2908420"/>
            <a:ext cx="1883211" cy="15240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rot="5400000" flipH="1" flipV="1">
            <a:off x="49037" y="2792357"/>
            <a:ext cx="232127"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rot="5400000" flipH="1" flipV="1">
            <a:off x="1972112" y="2985415"/>
            <a:ext cx="152400" cy="1"/>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967411" y="122883"/>
            <a:ext cx="1029661" cy="923330"/>
          </a:xfrm>
          <a:prstGeom prst="rect">
            <a:avLst/>
          </a:prstGeom>
          <a:noFill/>
        </p:spPr>
        <p:txBody>
          <a:bodyPr wrap="none" rtlCol="0">
            <a:spAutoFit/>
          </a:bodyPr>
          <a:lstStyle/>
          <a:p>
            <a:r>
              <a:rPr lang="en-US" dirty="0">
                <a:solidFill>
                  <a:srgbClr val="FF0000"/>
                </a:solidFill>
              </a:rPr>
              <a:t>Anger</a:t>
            </a:r>
          </a:p>
          <a:p>
            <a:r>
              <a:rPr lang="en-US" dirty="0">
                <a:solidFill>
                  <a:srgbClr val="FF0000"/>
                </a:solidFill>
              </a:rPr>
              <a:t>Danger</a:t>
            </a:r>
          </a:p>
          <a:p>
            <a:r>
              <a:rPr lang="en-US" dirty="0">
                <a:solidFill>
                  <a:srgbClr val="FF0000"/>
                </a:solidFill>
              </a:rPr>
              <a:t>Heat</a:t>
            </a:r>
          </a:p>
        </p:txBody>
      </p:sp>
      <p:cxnSp>
        <p:nvCxnSpPr>
          <p:cNvPr id="25" name="Straight Connector 24"/>
          <p:cNvCxnSpPr/>
          <p:nvPr/>
        </p:nvCxnSpPr>
        <p:spPr>
          <a:xfrm rot="16200000" flipH="1">
            <a:off x="1469320" y="1086827"/>
            <a:ext cx="1571069" cy="761277"/>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p:nvCxnSpPr>
        <p:spPr>
          <a:xfrm rot="16200000" flipH="1">
            <a:off x="1629762" y="1059516"/>
            <a:ext cx="1571069" cy="761277"/>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p:nvCxnSpPr>
        <p:spPr>
          <a:xfrm flipV="1">
            <a:off x="1874216" y="654621"/>
            <a:ext cx="160441" cy="27309"/>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p:nvCxnSpPr>
        <p:spPr>
          <a:xfrm rot="10800000" flipV="1">
            <a:off x="2635493" y="2225688"/>
            <a:ext cx="160442" cy="27311"/>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p:nvCxnSpPr>
        <p:spPr>
          <a:xfrm flipV="1">
            <a:off x="4069310" y="2677087"/>
            <a:ext cx="1898101" cy="23212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p:nvCxnSpPr>
        <p:spPr>
          <a:xfrm flipV="1">
            <a:off x="4069310" y="2908420"/>
            <a:ext cx="1898101" cy="153196"/>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rot="5400000" flipH="1" flipV="1">
            <a:off x="5850951" y="2792755"/>
            <a:ext cx="232921"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7" name="Straight Connector 46"/>
          <p:cNvCxnSpPr/>
          <p:nvPr/>
        </p:nvCxnSpPr>
        <p:spPr>
          <a:xfrm rot="16200000" flipH="1">
            <a:off x="3993905" y="2983826"/>
            <a:ext cx="152400" cy="1587"/>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12700" y="0"/>
            <a:ext cx="9108567" cy="6324600"/>
          </a:xfrm>
          <a:prstGeom prst="rect">
            <a:avLst/>
          </a:prstGeom>
        </p:spPr>
      </p:pic>
      <p:cxnSp>
        <p:nvCxnSpPr>
          <p:cNvPr id="7" name="Straight Connector 6"/>
          <p:cNvCxnSpPr/>
          <p:nvPr/>
        </p:nvCxnSpPr>
        <p:spPr>
          <a:xfrm flipV="1">
            <a:off x="655459" y="3590353"/>
            <a:ext cx="1625816" cy="956614"/>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flipV="1">
            <a:off x="655459" y="3591149"/>
            <a:ext cx="1625818" cy="1160636"/>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rot="5400000" flipH="1" flipV="1">
            <a:off x="551465" y="4649377"/>
            <a:ext cx="204817" cy="2"/>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248670" y="109228"/>
            <a:ext cx="1422460" cy="1200329"/>
          </a:xfrm>
          <a:prstGeom prst="rect">
            <a:avLst/>
          </a:prstGeom>
          <a:noFill/>
        </p:spPr>
        <p:txBody>
          <a:bodyPr wrap="none" rtlCol="0">
            <a:spAutoFit/>
          </a:bodyPr>
          <a:lstStyle/>
          <a:p>
            <a:r>
              <a:rPr lang="en-US" dirty="0">
                <a:solidFill>
                  <a:srgbClr val="FF0000"/>
                </a:solidFill>
              </a:rPr>
              <a:t>Good Luck</a:t>
            </a:r>
          </a:p>
          <a:p>
            <a:r>
              <a:rPr lang="en-US" dirty="0">
                <a:solidFill>
                  <a:srgbClr val="FF0000"/>
                </a:solidFill>
              </a:rPr>
              <a:t>Love</a:t>
            </a:r>
          </a:p>
          <a:p>
            <a:r>
              <a:rPr lang="en-US" dirty="0">
                <a:solidFill>
                  <a:srgbClr val="FF0000"/>
                </a:solidFill>
              </a:rPr>
              <a:t>Passion</a:t>
            </a:r>
          </a:p>
          <a:p>
            <a:r>
              <a:rPr lang="en-US" dirty="0">
                <a:solidFill>
                  <a:srgbClr val="FF0000"/>
                </a:solidFill>
              </a:rPr>
              <a:t>Success</a:t>
            </a:r>
          </a:p>
        </p:txBody>
      </p:sp>
      <p:cxnSp>
        <p:nvCxnSpPr>
          <p:cNvPr id="25" name="Straight Connector 24"/>
          <p:cNvCxnSpPr/>
          <p:nvPr/>
        </p:nvCxnSpPr>
        <p:spPr>
          <a:xfrm rot="16200000" flipH="1">
            <a:off x="3221085" y="4179079"/>
            <a:ext cx="30485" cy="1"/>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p:nvCxnSpPr>
        <p:spPr>
          <a:xfrm rot="16200000" flipH="1">
            <a:off x="2531015" y="4869151"/>
            <a:ext cx="1571068" cy="160442"/>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p:nvCxnSpPr>
        <p:spPr>
          <a:xfrm rot="16200000" flipH="1">
            <a:off x="2531014" y="4882805"/>
            <a:ext cx="1598379" cy="160443"/>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p:nvCxnSpPr>
        <p:spPr>
          <a:xfrm rot="16200000" flipH="1">
            <a:off x="2375690" y="4928888"/>
            <a:ext cx="1598379" cy="68276"/>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2" name="Straight Connector 51"/>
          <p:cNvCxnSpPr/>
          <p:nvPr/>
        </p:nvCxnSpPr>
        <p:spPr>
          <a:xfrm rot="10800000" flipV="1">
            <a:off x="3140743" y="4163835"/>
            <a:ext cx="95584" cy="1"/>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62" name="Straight Connector 61"/>
          <p:cNvCxnSpPr/>
          <p:nvPr/>
        </p:nvCxnSpPr>
        <p:spPr>
          <a:xfrm flipV="1">
            <a:off x="4088577" y="1679510"/>
            <a:ext cx="1523794" cy="885946"/>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64" name="Straight Connector 63"/>
          <p:cNvCxnSpPr/>
          <p:nvPr/>
        </p:nvCxnSpPr>
        <p:spPr>
          <a:xfrm flipV="1">
            <a:off x="4012377" y="1463225"/>
            <a:ext cx="1479294" cy="985065"/>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66" name="Straight Connector 65"/>
          <p:cNvCxnSpPr/>
          <p:nvPr/>
        </p:nvCxnSpPr>
        <p:spPr>
          <a:xfrm rot="16200000" flipH="1">
            <a:off x="5443879" y="1511017"/>
            <a:ext cx="216285" cy="12070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68" name="Straight Connector 67"/>
          <p:cNvCxnSpPr/>
          <p:nvPr/>
        </p:nvCxnSpPr>
        <p:spPr>
          <a:xfrm rot="16200000" flipH="1">
            <a:off x="3991895" y="2468773"/>
            <a:ext cx="117165" cy="7620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907052" y="6605067"/>
            <a:ext cx="4637044" cy="307777"/>
          </a:xfrm>
          <a:prstGeom prst="rect">
            <a:avLst/>
          </a:prstGeom>
          <a:noFill/>
        </p:spPr>
        <p:txBody>
          <a:bodyPr wrap="none" rtlCol="0">
            <a:spAutoFit/>
          </a:bodyPr>
          <a:lstStyle/>
          <a:p>
            <a:r>
              <a:rPr lang="en-US" sz="1400" dirty="0"/>
              <a:t>Source: </a:t>
            </a:r>
            <a:r>
              <a:rPr lang="en-US" sz="1400" dirty="0" err="1"/>
              <a:t>Colours</a:t>
            </a:r>
            <a:r>
              <a:rPr lang="en-US" sz="1400" dirty="0"/>
              <a:t> in Cultures. Information is Beautiful.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3143250" y="622300"/>
            <a:ext cx="2857500" cy="2857500"/>
          </a:xfrm>
          <a:prstGeom prst="rect">
            <a:avLst/>
          </a:prstGeom>
        </p:spPr>
      </p:pic>
      <p:pic>
        <p:nvPicPr>
          <p:cNvPr id="4" name="Picture 3"/>
          <p:cNvPicPr>
            <a:picLocks noChangeAspect="1"/>
          </p:cNvPicPr>
          <p:nvPr/>
        </p:nvPicPr>
        <p:blipFill>
          <a:blip r:embed="rId4"/>
          <a:stretch>
            <a:fillRect/>
          </a:stretch>
        </p:blipFill>
        <p:spPr>
          <a:xfrm>
            <a:off x="901700" y="3752850"/>
            <a:ext cx="3505200" cy="2324100"/>
          </a:xfrm>
          <a:prstGeom prst="rect">
            <a:avLst/>
          </a:prstGeom>
        </p:spPr>
      </p:pic>
      <p:pic>
        <p:nvPicPr>
          <p:cNvPr id="5" name="Picture 4"/>
          <p:cNvPicPr>
            <a:picLocks noChangeAspect="1"/>
          </p:cNvPicPr>
          <p:nvPr/>
        </p:nvPicPr>
        <p:blipFill>
          <a:blip r:embed="rId5"/>
          <a:stretch>
            <a:fillRect/>
          </a:stretch>
        </p:blipFill>
        <p:spPr>
          <a:xfrm>
            <a:off x="6616700" y="311150"/>
            <a:ext cx="2171700" cy="2171700"/>
          </a:xfrm>
          <a:prstGeom prst="rect">
            <a:avLst/>
          </a:prstGeom>
        </p:spPr>
      </p:pic>
      <p:pic>
        <p:nvPicPr>
          <p:cNvPr id="7" name="Picture 6"/>
          <p:cNvPicPr>
            <a:picLocks noChangeAspect="1"/>
          </p:cNvPicPr>
          <p:nvPr/>
        </p:nvPicPr>
        <p:blipFill>
          <a:blip r:embed="rId6"/>
          <a:stretch>
            <a:fillRect/>
          </a:stretch>
        </p:blipFill>
        <p:spPr>
          <a:xfrm>
            <a:off x="6324600" y="2787650"/>
            <a:ext cx="2463800" cy="3289300"/>
          </a:xfrm>
          <a:prstGeom prst="rect">
            <a:avLst/>
          </a:prstGeom>
        </p:spPr>
      </p:pic>
      <p:pic>
        <p:nvPicPr>
          <p:cNvPr id="8" name="Picture 7"/>
          <p:cNvPicPr>
            <a:picLocks noChangeAspect="1"/>
          </p:cNvPicPr>
          <p:nvPr/>
        </p:nvPicPr>
        <p:blipFill>
          <a:blip r:embed="rId7"/>
          <a:stretch>
            <a:fillRect/>
          </a:stretch>
        </p:blipFill>
        <p:spPr>
          <a:xfrm>
            <a:off x="508000" y="622300"/>
            <a:ext cx="1778000" cy="237372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Emergency Response </a:t>
            </a:r>
            <a:r>
              <a:rPr lang="en-US" dirty="0" err="1"/>
              <a:t>Symbology</a:t>
            </a:r>
            <a:endParaRPr lang="en-US" dirty="0"/>
          </a:p>
        </p:txBody>
      </p:sp>
      <p:sp>
        <p:nvSpPr>
          <p:cNvPr id="3" name="Content Placeholder 2"/>
          <p:cNvSpPr>
            <a:spLocks noGrp="1"/>
          </p:cNvSpPr>
          <p:nvPr>
            <p:ph idx="1"/>
          </p:nvPr>
        </p:nvSpPr>
        <p:spPr/>
        <p:txBody>
          <a:bodyPr>
            <a:normAutofit fontScale="92500" lnSpcReduction="10000"/>
          </a:bodyPr>
          <a:lstStyle/>
          <a:p>
            <a:r>
              <a:rPr lang="en-US" dirty="0"/>
              <a:t>Points</a:t>
            </a:r>
          </a:p>
          <a:p>
            <a:pPr lvl="1"/>
            <a:r>
              <a:rPr lang="en-US" dirty="0"/>
              <a:t>Hospitals and first aid stations</a:t>
            </a:r>
          </a:p>
          <a:p>
            <a:pPr lvl="1"/>
            <a:r>
              <a:rPr lang="en-US" dirty="0"/>
              <a:t>Police and first responder stations</a:t>
            </a:r>
          </a:p>
          <a:p>
            <a:pPr lvl="1"/>
            <a:r>
              <a:rPr lang="en-US" dirty="0"/>
              <a:t>Call boxes</a:t>
            </a:r>
          </a:p>
          <a:p>
            <a:pPr lvl="1"/>
            <a:r>
              <a:rPr lang="en-US" dirty="0"/>
              <a:t>Fire hydrants, standpipes</a:t>
            </a:r>
          </a:p>
          <a:p>
            <a:pPr lvl="1"/>
            <a:r>
              <a:rPr lang="en-US" dirty="0"/>
              <a:t>Points of entrance and egress</a:t>
            </a:r>
          </a:p>
          <a:p>
            <a:r>
              <a:rPr lang="en-US" dirty="0"/>
              <a:t>Lines</a:t>
            </a:r>
          </a:p>
          <a:p>
            <a:pPr lvl="1"/>
            <a:r>
              <a:rPr lang="en-US" dirty="0"/>
              <a:t>Evacuation routes, major roads and intersections</a:t>
            </a:r>
          </a:p>
          <a:p>
            <a:r>
              <a:rPr lang="en-US" dirty="0"/>
              <a:t>Areas</a:t>
            </a:r>
          </a:p>
          <a:p>
            <a:pPr lvl="1"/>
            <a:r>
              <a:rPr lang="en-US" dirty="0"/>
              <a:t>Flood zones, Disaster areas, Quarantine zones</a:t>
            </a:r>
          </a:p>
          <a:p>
            <a:pPr lvl="1"/>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Emergency Response </a:t>
            </a:r>
            <a:r>
              <a:rPr lang="en-US" dirty="0" err="1"/>
              <a:t>Symbology</a:t>
            </a:r>
            <a:endParaRPr lang="en-US" dirty="0"/>
          </a:p>
        </p:txBody>
      </p:sp>
      <p:sp>
        <p:nvSpPr>
          <p:cNvPr id="3" name="Content Placeholder 2"/>
          <p:cNvSpPr>
            <a:spLocks noGrp="1"/>
          </p:cNvSpPr>
          <p:nvPr>
            <p:ph idx="1"/>
          </p:nvPr>
        </p:nvSpPr>
        <p:spPr/>
        <p:txBody>
          <a:bodyPr>
            <a:normAutofit/>
          </a:bodyPr>
          <a:lstStyle/>
          <a:p>
            <a:endParaRPr lang="en-US" dirty="0"/>
          </a:p>
          <a:p>
            <a:pPr lvl="1"/>
            <a:endParaRPr lang="en-US" dirty="0"/>
          </a:p>
        </p:txBody>
      </p:sp>
      <p:pic>
        <p:nvPicPr>
          <p:cNvPr id="7" name="Picture 6"/>
          <p:cNvPicPr>
            <a:picLocks noChangeAspect="1"/>
          </p:cNvPicPr>
          <p:nvPr/>
        </p:nvPicPr>
        <p:blipFill>
          <a:blip r:embed="rId3"/>
          <a:stretch>
            <a:fillRect/>
          </a:stretch>
        </p:blipFill>
        <p:spPr>
          <a:xfrm>
            <a:off x="882282" y="2067938"/>
            <a:ext cx="7610476" cy="4363339"/>
          </a:xfrm>
          <a:prstGeom prst="rect">
            <a:avLst/>
          </a:prstGeom>
        </p:spPr>
      </p:pic>
      <p:sp>
        <p:nvSpPr>
          <p:cNvPr id="9" name="TextBox 8"/>
          <p:cNvSpPr txBox="1"/>
          <p:nvPr/>
        </p:nvSpPr>
        <p:spPr>
          <a:xfrm>
            <a:off x="907052" y="6605067"/>
            <a:ext cx="7105844" cy="307777"/>
          </a:xfrm>
          <a:prstGeom prst="rect">
            <a:avLst/>
          </a:prstGeom>
          <a:noFill/>
        </p:spPr>
        <p:txBody>
          <a:bodyPr wrap="none" rtlCol="0">
            <a:spAutoFit/>
          </a:bodyPr>
          <a:lstStyle/>
          <a:p>
            <a:r>
              <a:rPr lang="en-US" sz="1400" dirty="0"/>
              <a:t>Source: FDNY. http://</a:t>
            </a:r>
            <a:r>
              <a:rPr lang="en-US" sz="1400" dirty="0" err="1"/>
              <a:t>events.esri.com/conference/sagList/?fa</a:t>
            </a:r>
            <a:r>
              <a:rPr lang="en-US" sz="1400" dirty="0"/>
              <a:t>=</a:t>
            </a:r>
            <a:r>
              <a:rPr lang="en-US" sz="1400" dirty="0" err="1"/>
              <a:t>Detail&amp;SID</a:t>
            </a:r>
            <a:r>
              <a:rPr lang="en-US" sz="1400" dirty="0"/>
              <a:t>=1845#</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Standard Symbol for Emergency?</a:t>
            </a:r>
          </a:p>
        </p:txBody>
      </p:sp>
      <p:sp>
        <p:nvSpPr>
          <p:cNvPr id="3" name="Content Placeholder 2"/>
          <p:cNvSpPr>
            <a:spLocks noGrp="1"/>
          </p:cNvSpPr>
          <p:nvPr>
            <p:ph idx="1"/>
          </p:nvPr>
        </p:nvSpPr>
        <p:spPr/>
        <p:txBody>
          <a:bodyPr>
            <a:normAutofit fontScale="92500" lnSpcReduction="20000"/>
          </a:bodyPr>
          <a:lstStyle/>
          <a:p>
            <a:r>
              <a:rPr lang="en-US" dirty="0"/>
              <a:t>Symbol sets support Common Operating Picture</a:t>
            </a:r>
          </a:p>
          <a:p>
            <a:r>
              <a:rPr lang="en-US" dirty="0"/>
              <a:t>United States Department of Homeland Security</a:t>
            </a:r>
          </a:p>
          <a:p>
            <a:r>
              <a:rPr lang="en-US" dirty="0"/>
              <a:t>Canada EMS, Influenced by </a:t>
            </a:r>
          </a:p>
          <a:p>
            <a:pPr lvl="1"/>
            <a:r>
              <a:rPr lang="en-US" b="1" dirty="0"/>
              <a:t>HSWG</a:t>
            </a:r>
            <a:r>
              <a:rPr lang="en-US" dirty="0"/>
              <a:t> - Homeland Security Working Group (ANSI INCITIS 415-2006 and the related mil spec: MIL-STD 2525C)</a:t>
            </a:r>
            <a:endParaRPr lang="en-US" sz="2200" dirty="0"/>
          </a:p>
          <a:p>
            <a:pPr lvl="1"/>
            <a:r>
              <a:rPr lang="en-US" b="1" dirty="0"/>
              <a:t>CAP-CP</a:t>
            </a:r>
            <a:r>
              <a:rPr lang="en-US" dirty="0"/>
              <a:t> - Canadian Profile of the Common Alerting Protocol</a:t>
            </a:r>
            <a:endParaRPr lang="en-US" sz="2200" dirty="0"/>
          </a:p>
          <a:p>
            <a:pPr lvl="1"/>
            <a:r>
              <a:rPr lang="en-US" b="1" dirty="0"/>
              <a:t>NIDM</a:t>
            </a:r>
            <a:r>
              <a:rPr lang="en-US" dirty="0"/>
              <a:t> - Canadian National Infrastructure Data Model (which was heavily influenced by the US-Canada Cross-Border Infrastructure Plan)</a:t>
            </a:r>
          </a:p>
          <a:p>
            <a:r>
              <a:rPr lang="en-US" sz="2400" dirty="0"/>
              <a:t>There are no standard symbol sets for emergency response.	</a:t>
            </a:r>
          </a:p>
          <a:p>
            <a:pPr lvl="1"/>
            <a:endParaRPr lang="en-US" dirty="0"/>
          </a:p>
        </p:txBody>
      </p:sp>
      <p:sp>
        <p:nvSpPr>
          <p:cNvPr id="4" name="TextBox 3"/>
          <p:cNvSpPr txBox="1"/>
          <p:nvPr/>
        </p:nvSpPr>
        <p:spPr>
          <a:xfrm>
            <a:off x="907052" y="6605067"/>
            <a:ext cx="6712094" cy="307777"/>
          </a:xfrm>
          <a:prstGeom prst="rect">
            <a:avLst/>
          </a:prstGeom>
          <a:noFill/>
        </p:spPr>
        <p:txBody>
          <a:bodyPr wrap="none" rtlCol="0">
            <a:spAutoFit/>
          </a:bodyPr>
          <a:lstStyle/>
          <a:p>
            <a:r>
              <a:rPr lang="en-US" sz="1400" dirty="0"/>
              <a:t>Source: </a:t>
            </a:r>
            <a:r>
              <a:rPr lang="en-US" sz="1400" dirty="0" err="1"/>
              <a:t>Symbology</a:t>
            </a:r>
            <a:r>
              <a:rPr lang="en-US" sz="1400" dirty="0"/>
              <a:t>. GIS Wiki. http://</a:t>
            </a:r>
            <a:r>
              <a:rPr lang="en-US" sz="1400" dirty="0" err="1"/>
              <a:t>wiki.gis.com/wiki/index.php/Symbology</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Canada EMS</a:t>
            </a:r>
          </a:p>
        </p:txBody>
      </p:sp>
      <p:sp>
        <p:nvSpPr>
          <p:cNvPr id="3" name="Content Placeholder 2"/>
          <p:cNvSpPr>
            <a:spLocks noGrp="1"/>
          </p:cNvSpPr>
          <p:nvPr>
            <p:ph idx="1"/>
          </p:nvPr>
        </p:nvSpPr>
        <p:spPr/>
        <p:txBody>
          <a:bodyPr>
            <a:normAutofit/>
          </a:bodyPr>
          <a:lstStyle/>
          <a:p>
            <a:r>
              <a:rPr lang="en-US" dirty="0"/>
              <a:t>Funded by </a:t>
            </a:r>
            <a:r>
              <a:rPr lang="en-US" dirty="0" err="1"/>
              <a:t>GeoConnections</a:t>
            </a:r>
            <a:endParaRPr lang="en-US" dirty="0"/>
          </a:p>
          <a:p>
            <a:r>
              <a:rPr lang="en-US" dirty="0"/>
              <a:t>Supports emergency</a:t>
            </a:r>
            <a:br>
              <a:rPr lang="en-US" dirty="0"/>
            </a:br>
            <a:r>
              <a:rPr lang="en-US" dirty="0"/>
              <a:t>management applications</a:t>
            </a:r>
          </a:p>
          <a:p>
            <a:r>
              <a:rPr lang="en-US" dirty="0"/>
              <a:t>national Multi-Agency </a:t>
            </a:r>
            <a:br>
              <a:rPr lang="en-US" dirty="0"/>
            </a:br>
            <a:r>
              <a:rPr lang="en-US" dirty="0"/>
              <a:t>Situation Awareness </a:t>
            </a:r>
            <a:br>
              <a:rPr lang="en-US" dirty="0"/>
            </a:br>
            <a:r>
              <a:rPr lang="en-US" dirty="0"/>
              <a:t>Systems (MASAS) </a:t>
            </a:r>
          </a:p>
          <a:p>
            <a:r>
              <a:rPr lang="en-US" dirty="0"/>
              <a:t>Targets web applications</a:t>
            </a:r>
            <a:br>
              <a:rPr lang="en-US" dirty="0"/>
            </a:br>
            <a:r>
              <a:rPr lang="en-US" dirty="0"/>
              <a:t>but can be used with </a:t>
            </a:r>
            <a:br>
              <a:rPr lang="en-US" dirty="0"/>
            </a:br>
            <a:r>
              <a:rPr lang="en-US" dirty="0"/>
              <a:t>desktop </a:t>
            </a:r>
            <a:r>
              <a:rPr lang="en-US" dirty="0" err="1"/>
              <a:t>appliations</a:t>
            </a:r>
            <a:endParaRPr lang="en-US" dirty="0"/>
          </a:p>
        </p:txBody>
      </p:sp>
      <p:sp>
        <p:nvSpPr>
          <p:cNvPr id="4" name="TextBox 3"/>
          <p:cNvSpPr txBox="1"/>
          <p:nvPr/>
        </p:nvSpPr>
        <p:spPr>
          <a:xfrm>
            <a:off x="907052" y="6605067"/>
            <a:ext cx="6712094" cy="307777"/>
          </a:xfrm>
          <a:prstGeom prst="rect">
            <a:avLst/>
          </a:prstGeom>
          <a:noFill/>
        </p:spPr>
        <p:txBody>
          <a:bodyPr wrap="none" rtlCol="0">
            <a:spAutoFit/>
          </a:bodyPr>
          <a:lstStyle/>
          <a:p>
            <a:r>
              <a:rPr lang="en-US" sz="1400" dirty="0"/>
              <a:t>Source: </a:t>
            </a:r>
            <a:r>
              <a:rPr lang="en-US" sz="1400" dirty="0" err="1"/>
              <a:t>Symbology</a:t>
            </a:r>
            <a:r>
              <a:rPr lang="en-US" sz="1400" dirty="0"/>
              <a:t>. GIS Wiki. http://</a:t>
            </a:r>
            <a:r>
              <a:rPr lang="en-US" sz="1400" dirty="0" err="1"/>
              <a:t>wiki.gis.com/wiki/index.php/Symbology</a:t>
            </a:r>
            <a:endParaRPr lang="en-US" sz="1400" dirty="0"/>
          </a:p>
        </p:txBody>
      </p:sp>
      <p:pic>
        <p:nvPicPr>
          <p:cNvPr id="5" name="Picture 4" descr="http://wiki.gis.com/wiki/images/2/22/Ems.png">
            <a:hlinkClick r:id="rId3"/>
          </p:cNvPr>
          <p:cNvPicPr/>
          <p:nvPr/>
        </p:nvPicPr>
        <p:blipFill>
          <a:blip r:embed="rId4"/>
          <a:srcRect/>
          <a:stretch>
            <a:fillRect/>
          </a:stretch>
        </p:blipFill>
        <p:spPr bwMode="auto">
          <a:xfrm>
            <a:off x="5216364" y="2828655"/>
            <a:ext cx="3108143" cy="3247622"/>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U.S. Standard Symbol Set</a:t>
            </a:r>
          </a:p>
        </p:txBody>
      </p:sp>
      <p:sp>
        <p:nvSpPr>
          <p:cNvPr id="3" name="Content Placeholder 2"/>
          <p:cNvSpPr>
            <a:spLocks noGrp="1"/>
          </p:cNvSpPr>
          <p:nvPr>
            <p:ph idx="1"/>
          </p:nvPr>
        </p:nvSpPr>
        <p:spPr/>
        <p:txBody>
          <a:bodyPr/>
          <a:lstStyle/>
          <a:p>
            <a:r>
              <a:rPr lang="en-US" dirty="0"/>
              <a:t>Partners:</a:t>
            </a:r>
          </a:p>
          <a:p>
            <a:pPr lvl="1"/>
            <a:r>
              <a:rPr lang="en-US" dirty="0"/>
              <a:t>Department of Homeland Security</a:t>
            </a:r>
          </a:p>
          <a:p>
            <a:pPr lvl="1"/>
            <a:r>
              <a:rPr lang="en-US" dirty="0"/>
              <a:t>Pennsylvania State University </a:t>
            </a:r>
            <a:r>
              <a:rPr lang="en-US" dirty="0" err="1"/>
              <a:t>GeoVISTA</a:t>
            </a:r>
            <a:r>
              <a:rPr lang="en-US" dirty="0"/>
              <a:t> Center</a:t>
            </a:r>
          </a:p>
          <a:p>
            <a:r>
              <a:rPr lang="en-US" dirty="0"/>
              <a:t>Deliverables:</a:t>
            </a:r>
          </a:p>
          <a:p>
            <a:pPr lvl="1"/>
            <a:r>
              <a:rPr lang="en-US" dirty="0"/>
              <a:t>Distributed, collaborative process and toolset</a:t>
            </a:r>
          </a:p>
          <a:p>
            <a:pPr lvl="1"/>
            <a:r>
              <a:rPr lang="en-US" dirty="0"/>
              <a:t>Web-based </a:t>
            </a:r>
            <a:r>
              <a:rPr lang="en-US" dirty="0" err="1"/>
              <a:t>Symbology</a:t>
            </a:r>
            <a:r>
              <a:rPr lang="en-US" dirty="0"/>
              <a:t> service</a:t>
            </a:r>
          </a:p>
        </p:txBody>
      </p:sp>
      <p:sp>
        <p:nvSpPr>
          <p:cNvPr id="4" name="TextBox 3"/>
          <p:cNvSpPr txBox="1"/>
          <p:nvPr/>
        </p:nvSpPr>
        <p:spPr>
          <a:xfrm>
            <a:off x="907052" y="6605067"/>
            <a:ext cx="7048336" cy="307777"/>
          </a:xfrm>
          <a:prstGeom prst="rect">
            <a:avLst/>
          </a:prstGeom>
          <a:noFill/>
        </p:spPr>
        <p:txBody>
          <a:bodyPr wrap="none" rtlCol="0">
            <a:spAutoFit/>
          </a:bodyPr>
          <a:lstStyle/>
          <a:p>
            <a:r>
              <a:rPr lang="en-US" sz="1400" dirty="0"/>
              <a:t>Source: US Dept of Homeland Security, http://</a:t>
            </a:r>
            <a:r>
              <a:rPr lang="en-US" sz="1400" dirty="0" err="1"/>
              <a:t>www.fgdc.gov/HSWG/index.html</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Distributed Process and Toolkit</a:t>
            </a:r>
          </a:p>
        </p:txBody>
      </p:sp>
      <p:sp>
        <p:nvSpPr>
          <p:cNvPr id="3" name="Content Placeholder 2"/>
          <p:cNvSpPr>
            <a:spLocks noGrp="1"/>
          </p:cNvSpPr>
          <p:nvPr>
            <p:ph idx="1"/>
          </p:nvPr>
        </p:nvSpPr>
        <p:spPr/>
        <p:txBody>
          <a:bodyPr>
            <a:normAutofit/>
          </a:bodyPr>
          <a:lstStyle/>
          <a:p>
            <a:r>
              <a:rPr lang="en-US" dirty="0"/>
              <a:t>1. A distributed, collaborative web based process and toolset that allow users to:</a:t>
            </a:r>
            <a:br>
              <a:rPr lang="en-US" dirty="0"/>
            </a:br>
            <a:endParaRPr lang="en-US" dirty="0"/>
          </a:p>
          <a:p>
            <a:pPr lvl="1" fontAlgn="base"/>
            <a:r>
              <a:rPr lang="en-US" dirty="0"/>
              <a:t>Review their existing </a:t>
            </a:r>
            <a:r>
              <a:rPr lang="en-US" dirty="0" err="1"/>
              <a:t>symbology</a:t>
            </a:r>
            <a:endParaRPr lang="en-US" dirty="0"/>
          </a:p>
          <a:p>
            <a:pPr lvl="1" fontAlgn="base"/>
            <a:r>
              <a:rPr lang="en-US" dirty="0"/>
              <a:t>Identify missing, redundant, ambiguous symbols</a:t>
            </a:r>
          </a:p>
          <a:p>
            <a:pPr lvl="1" fontAlgn="base"/>
            <a:r>
              <a:rPr lang="en-US" dirty="0"/>
              <a:t>Identify poor symbol labels and definitions</a:t>
            </a:r>
          </a:p>
          <a:p>
            <a:pPr lvl="1" fontAlgn="base"/>
            <a:r>
              <a:rPr lang="en-US" dirty="0"/>
              <a:t>Develop logical symbol categories</a:t>
            </a:r>
          </a:p>
        </p:txBody>
      </p:sp>
      <p:sp>
        <p:nvSpPr>
          <p:cNvPr id="4" name="TextBox 3"/>
          <p:cNvSpPr txBox="1"/>
          <p:nvPr/>
        </p:nvSpPr>
        <p:spPr>
          <a:xfrm>
            <a:off x="907052" y="6605067"/>
            <a:ext cx="7048336" cy="307777"/>
          </a:xfrm>
          <a:prstGeom prst="rect">
            <a:avLst/>
          </a:prstGeom>
          <a:noFill/>
        </p:spPr>
        <p:txBody>
          <a:bodyPr wrap="none" rtlCol="0">
            <a:spAutoFit/>
          </a:bodyPr>
          <a:lstStyle/>
          <a:p>
            <a:r>
              <a:rPr lang="en-US" sz="1400" dirty="0"/>
              <a:t>Source: US Dept of Homeland Security, http://</a:t>
            </a:r>
            <a:r>
              <a:rPr lang="en-US" sz="1400" dirty="0" err="1"/>
              <a:t>www.fgdc.gov/HSWG/index.html</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Web-Based </a:t>
            </a:r>
            <a:r>
              <a:rPr lang="en-US" dirty="0" err="1"/>
              <a:t>Symbology</a:t>
            </a:r>
            <a:r>
              <a:rPr lang="en-US" dirty="0"/>
              <a:t> Service</a:t>
            </a:r>
          </a:p>
        </p:txBody>
      </p:sp>
      <p:sp>
        <p:nvSpPr>
          <p:cNvPr id="3" name="Content Placeholder 2"/>
          <p:cNvSpPr>
            <a:spLocks noGrp="1"/>
          </p:cNvSpPr>
          <p:nvPr>
            <p:ph idx="1"/>
          </p:nvPr>
        </p:nvSpPr>
        <p:spPr/>
        <p:txBody>
          <a:bodyPr>
            <a:normAutofit fontScale="92500" lnSpcReduction="10000"/>
          </a:bodyPr>
          <a:lstStyle/>
          <a:p>
            <a:pPr lvl="0" fontAlgn="base"/>
            <a:r>
              <a:rPr lang="en-US" dirty="0" err="1"/>
              <a:t>SymbolStore.com</a:t>
            </a:r>
            <a:endParaRPr lang="en-US" dirty="0"/>
          </a:p>
          <a:p>
            <a:pPr fontAlgn="base"/>
            <a:r>
              <a:rPr lang="en-US" dirty="0">
                <a:solidFill>
                  <a:schemeClr val="tx1"/>
                </a:solidFill>
              </a:rPr>
              <a:t>Find relevant symbols using keyword search </a:t>
            </a:r>
            <a:endParaRPr lang="en-US" dirty="0"/>
          </a:p>
          <a:p>
            <a:pPr lvl="0" fontAlgn="base"/>
            <a:r>
              <a:rPr lang="en-US" dirty="0"/>
              <a:t>Review available symbols along with metadata such as: symbol name and description; where they are used (what organizations); are they part of a standard; etc.</a:t>
            </a:r>
          </a:p>
          <a:p>
            <a:pPr lvl="0" fontAlgn="base"/>
            <a:r>
              <a:rPr lang="en-US" dirty="0"/>
              <a:t>Preview symbols on different scale maps</a:t>
            </a:r>
          </a:p>
          <a:p>
            <a:pPr lvl="0" fontAlgn="base"/>
            <a:r>
              <a:rPr lang="en-US" dirty="0"/>
              <a:t>Select and download symbols</a:t>
            </a:r>
          </a:p>
          <a:p>
            <a:pPr lvl="0" fontAlgn="base"/>
            <a:r>
              <a:rPr lang="en-US" dirty="0"/>
              <a:t>Publish symbols and symbol libraries to the Symbol Store</a:t>
            </a:r>
          </a:p>
        </p:txBody>
      </p:sp>
      <p:sp>
        <p:nvSpPr>
          <p:cNvPr id="4" name="TextBox 3"/>
          <p:cNvSpPr txBox="1"/>
          <p:nvPr/>
        </p:nvSpPr>
        <p:spPr>
          <a:xfrm>
            <a:off x="907052" y="6605067"/>
            <a:ext cx="7048336" cy="307777"/>
          </a:xfrm>
          <a:prstGeom prst="rect">
            <a:avLst/>
          </a:prstGeom>
          <a:noFill/>
        </p:spPr>
        <p:txBody>
          <a:bodyPr wrap="none" rtlCol="0">
            <a:spAutoFit/>
          </a:bodyPr>
          <a:lstStyle/>
          <a:p>
            <a:r>
              <a:rPr lang="en-US" sz="1400" dirty="0"/>
              <a:t>Source: US Dept of Homeland Security, http://</a:t>
            </a:r>
            <a:r>
              <a:rPr lang="en-US" sz="1400" dirty="0" err="1"/>
              <a:t>www.fgdc.gov/HSWG/index.html</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Web-Based </a:t>
            </a:r>
            <a:r>
              <a:rPr lang="en-US" dirty="0" err="1"/>
              <a:t>Symbology</a:t>
            </a:r>
            <a:r>
              <a:rPr lang="en-US" dirty="0"/>
              <a:t> Service</a:t>
            </a:r>
          </a:p>
        </p:txBody>
      </p:sp>
      <p:sp>
        <p:nvSpPr>
          <p:cNvPr id="3" name="Content Placeholder 2"/>
          <p:cNvSpPr>
            <a:spLocks noGrp="1"/>
          </p:cNvSpPr>
          <p:nvPr>
            <p:ph idx="1"/>
          </p:nvPr>
        </p:nvSpPr>
        <p:spPr/>
        <p:txBody>
          <a:bodyPr/>
          <a:lstStyle/>
          <a:p>
            <a:pPr lvl="0" fontAlgn="base"/>
            <a:r>
              <a:rPr lang="en-US" dirty="0" err="1"/>
              <a:t>SymbolStore</a:t>
            </a:r>
            <a:r>
              <a:rPr lang="en-US" dirty="0"/>
              <a:t> Prototype</a:t>
            </a:r>
            <a:br>
              <a:rPr lang="en-US" dirty="0"/>
            </a:br>
            <a:endParaRPr lang="en-US" dirty="0"/>
          </a:p>
          <a:p>
            <a:pPr lvl="1" fontAlgn="base"/>
            <a:r>
              <a:rPr lang="en-US" dirty="0"/>
              <a:t>ANSI 415-2006 (FGDC HSWG)</a:t>
            </a:r>
          </a:p>
          <a:p>
            <a:pPr lvl="1" fontAlgn="base"/>
            <a:r>
              <a:rPr lang="en-US" dirty="0"/>
              <a:t>HSIP</a:t>
            </a:r>
          </a:p>
          <a:p>
            <a:pPr lvl="1" fontAlgn="base"/>
            <a:r>
              <a:rPr lang="en-US" dirty="0"/>
              <a:t>FEMA</a:t>
            </a:r>
          </a:p>
          <a:p>
            <a:pPr lvl="1" fontAlgn="base"/>
            <a:r>
              <a:rPr lang="en-US" dirty="0"/>
              <a:t>DHS NPPD</a:t>
            </a:r>
          </a:p>
        </p:txBody>
      </p:sp>
      <p:sp>
        <p:nvSpPr>
          <p:cNvPr id="4" name="TextBox 3"/>
          <p:cNvSpPr txBox="1"/>
          <p:nvPr/>
        </p:nvSpPr>
        <p:spPr>
          <a:xfrm>
            <a:off x="907052" y="6605067"/>
            <a:ext cx="7048336" cy="307777"/>
          </a:xfrm>
          <a:prstGeom prst="rect">
            <a:avLst/>
          </a:prstGeom>
          <a:noFill/>
        </p:spPr>
        <p:txBody>
          <a:bodyPr wrap="none" rtlCol="0">
            <a:spAutoFit/>
          </a:bodyPr>
          <a:lstStyle/>
          <a:p>
            <a:r>
              <a:rPr lang="en-US" sz="1400" dirty="0"/>
              <a:t>Source: US Dept of Homeland Security, http://</a:t>
            </a:r>
            <a:r>
              <a:rPr lang="en-US" sz="1400" dirty="0" err="1"/>
              <a:t>www.fgdc.gov/HSWG/index.html</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SymbolStore</a:t>
            </a:r>
            <a:endParaRPr lang="en-US" dirty="0"/>
          </a:p>
        </p:txBody>
      </p:sp>
      <p:pic>
        <p:nvPicPr>
          <p:cNvPr id="7" name="Content Placeholder 6" descr="Screen Shot 2014-11-01 at 1.04.57 PM.png"/>
          <p:cNvPicPr>
            <a:picLocks noGrp="1" noChangeAspect="1"/>
          </p:cNvPicPr>
          <p:nvPr>
            <p:ph idx="1"/>
          </p:nvPr>
        </p:nvPicPr>
        <p:blipFill>
          <a:blip r:embed="rId2"/>
          <a:srcRect l="-42272" r="-42272"/>
          <a:stretch>
            <a:fillRect/>
          </a:stretch>
        </p:blipFill>
        <p:spPr>
          <a:xfrm>
            <a:off x="0" y="2106531"/>
            <a:ext cx="9144000" cy="4410433"/>
          </a:xfrm>
        </p:spPr>
      </p:pic>
      <p:sp>
        <p:nvSpPr>
          <p:cNvPr id="8" name="TextBox 7"/>
          <p:cNvSpPr txBox="1"/>
          <p:nvPr/>
        </p:nvSpPr>
        <p:spPr>
          <a:xfrm>
            <a:off x="907052" y="6605067"/>
            <a:ext cx="4590845" cy="307777"/>
          </a:xfrm>
          <a:prstGeom prst="rect">
            <a:avLst/>
          </a:prstGeom>
          <a:noFill/>
        </p:spPr>
        <p:txBody>
          <a:bodyPr wrap="none" rtlCol="0">
            <a:spAutoFit/>
          </a:bodyPr>
          <a:lstStyle/>
          <a:p>
            <a:r>
              <a:rPr lang="en-US" sz="1400" dirty="0"/>
              <a:t>Source: </a:t>
            </a:r>
            <a:r>
              <a:rPr lang="en-US" sz="1400" dirty="0" err="1"/>
              <a:t>SymbolStore</a:t>
            </a:r>
            <a:r>
              <a:rPr lang="en-US" sz="1400" dirty="0"/>
              <a:t>. http://</a:t>
            </a:r>
            <a:r>
              <a:rPr lang="en-US" sz="1400" dirty="0" err="1"/>
              <a:t>www.symbolstore.com</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Thanks!</a:t>
            </a:r>
          </a:p>
        </p:txBody>
      </p:sp>
      <p:sp>
        <p:nvSpPr>
          <p:cNvPr id="3" name="Content Placeholder 2"/>
          <p:cNvSpPr>
            <a:spLocks noGrp="1"/>
          </p:cNvSpPr>
          <p:nvPr>
            <p:ph idx="1"/>
          </p:nvPr>
        </p:nvSpPr>
        <p:spPr/>
        <p:txBody>
          <a:bodyPr>
            <a:normAutofit lnSpcReduction="10000"/>
          </a:bodyPr>
          <a:lstStyle/>
          <a:p>
            <a:r>
              <a:rPr lang="en-US" dirty="0"/>
              <a:t>Noreen Y. Whysel</a:t>
            </a:r>
          </a:p>
          <a:p>
            <a:r>
              <a:rPr lang="en-US" dirty="0"/>
              <a:t>@</a:t>
            </a:r>
            <a:r>
              <a:rPr lang="en-US" dirty="0" err="1"/>
              <a:t>nwhysel</a:t>
            </a:r>
            <a:endParaRPr lang="en-US" dirty="0"/>
          </a:p>
          <a:p>
            <a:r>
              <a:rPr lang="en-US" dirty="0">
                <a:hlinkClick r:id="rId2"/>
              </a:rPr>
              <a:t>http://www.whysel.com</a:t>
            </a:r>
            <a:endParaRPr lang="en-US" dirty="0"/>
          </a:p>
          <a:p>
            <a:r>
              <a:rPr lang="en-US" dirty="0"/>
              <a:t>Information Architecture Institute (</a:t>
            </a:r>
            <a:r>
              <a:rPr lang="en-US" dirty="0" err="1"/>
              <a:t>iainstitute.org</a:t>
            </a:r>
            <a:r>
              <a:rPr lang="en-US" dirty="0"/>
              <a:t>)</a:t>
            </a:r>
          </a:p>
          <a:p>
            <a:r>
              <a:rPr lang="en-US" dirty="0"/>
              <a:t>GISMO (</a:t>
            </a:r>
            <a:r>
              <a:rPr lang="en-US" dirty="0" err="1"/>
              <a:t>gismonyc.org</a:t>
            </a:r>
            <a:r>
              <a:rPr lang="en-US" dirty="0"/>
              <a:t>)</a:t>
            </a:r>
          </a:p>
          <a:p>
            <a:r>
              <a:rPr lang="en-US" dirty="0"/>
              <a:t>IDESG (</a:t>
            </a:r>
            <a:r>
              <a:rPr lang="en-US" dirty="0" err="1"/>
              <a:t>idecosystem.org</a:t>
            </a:r>
            <a:r>
              <a:rPr lang="en-US" dirty="0"/>
              <a:t>)</a:t>
            </a:r>
          </a:p>
          <a:p>
            <a:r>
              <a:rPr lang="en-US" dirty="0"/>
              <a:t>OWASP KBA Project (</a:t>
            </a:r>
            <a:r>
              <a:rPr lang="en-US" dirty="0" err="1"/>
              <a:t>owasp.org</a:t>
            </a:r>
            <a:r>
              <a:rPr lang="en-US" dirty="0"/>
              <a:t>)</a:t>
            </a:r>
          </a:p>
        </p:txBody>
      </p:sp>
    </p:spTree>
  </p:cSld>
  <p:clrMapOvr>
    <a:masterClrMapping/>
  </p:clrMapOvr>
</p:sld>
</file>

<file path=ppt/theme/theme1.xml><?xml version="1.0" encoding="utf-8"?>
<a:theme xmlns:a="http://schemas.openxmlformats.org/drawingml/2006/main" name="Perspective">
  <a:themeElements>
    <a:clrScheme name="Perspective">
      <a:dk1>
        <a:sysClr val="windowText" lastClr="000000"/>
      </a:dk1>
      <a:lt1>
        <a:sysClr val="window" lastClr="FFFFFF"/>
      </a:lt1>
      <a:dk2>
        <a:srgbClr val="333333"/>
      </a:dk2>
      <a:lt2>
        <a:srgbClr val="BBC0AC"/>
      </a:lt2>
      <a:accent1>
        <a:srgbClr val="A2C816"/>
      </a:accent1>
      <a:accent2>
        <a:srgbClr val="E07602"/>
      </a:accent2>
      <a:accent3>
        <a:srgbClr val="E4C402"/>
      </a:accent3>
      <a:accent4>
        <a:srgbClr val="7DC1EF"/>
      </a:accent4>
      <a:accent5>
        <a:srgbClr val="21449B"/>
      </a:accent5>
      <a:accent6>
        <a:srgbClr val="A2B170"/>
      </a:accent6>
      <a:hlink>
        <a:srgbClr val="8DA440"/>
      </a:hlink>
      <a:folHlink>
        <a:srgbClr val="4C4F3F"/>
      </a:folHlink>
    </a:clrScheme>
    <a:fontScheme name="Perspective">
      <a:majorFont>
        <a:latin typeface="Century Gothic"/>
        <a:ea typeface=""/>
        <a:cs typeface=""/>
        <a:font script="Jpan" typeface="メイリオ"/>
      </a:majorFont>
      <a:minorFont>
        <a:latin typeface="Century Gothic"/>
        <a:ea typeface=""/>
        <a:cs typeface=""/>
        <a:font script="Jpan" typeface="メイリオ"/>
      </a:minorFont>
    </a:fontScheme>
    <a:fmtScheme name="Perspective">
      <a:fillStyleLst>
        <a:solidFill>
          <a:schemeClr val="phClr"/>
        </a:solidFill>
        <a:solidFill>
          <a:schemeClr val="phClr">
            <a:shade val="90000"/>
          </a:schemeClr>
        </a:solidFill>
        <a:solidFill>
          <a:schemeClr val="phClr">
            <a:shade val="80000"/>
          </a:schemeClr>
        </a:solidFill>
      </a:fillStyleLst>
      <a:lnStyleLst>
        <a:ln w="12700" cap="flat" cmpd="sng" algn="ctr">
          <a:solidFill>
            <a:schemeClr val="phClr">
              <a:satMod val="105000"/>
            </a:schemeClr>
          </a:solidFill>
          <a:prstDash val="solid"/>
        </a:ln>
        <a:ln w="25400" cap="flat" cmpd="sng" algn="ctr">
          <a:solidFill>
            <a:schemeClr val="phClr"/>
          </a:solidFill>
          <a:prstDash val="solid"/>
        </a:ln>
        <a:ln w="25400" cap="flat" cmpd="sng" algn="ctr">
          <a:solidFill>
            <a:schemeClr val="phClr">
              <a:alpha val="80000"/>
            </a:schemeClr>
          </a:solidFill>
          <a:prstDash val="solid"/>
        </a:ln>
      </a:lnStyleLst>
      <a:effectStyleLst>
        <a:effectStyle>
          <a:effectLst/>
        </a:effectStyle>
        <a:effectStyle>
          <a:effectLst/>
          <a:scene3d>
            <a:camera prst="obliqueTopRight"/>
            <a:lightRig rig="threePt" dir="tl"/>
          </a:scene3d>
          <a:sp3d>
            <a:bevelT w="25400" h="25400"/>
          </a:sp3d>
        </a:effectStyle>
        <a:effectStyle>
          <a:effectLst/>
          <a:scene3d>
            <a:camera prst="perspectiveFront" fov="4200000"/>
            <a:lightRig rig="balanced" dir="tl">
              <a:rot lat="0" lon="0" rev="18600000"/>
            </a:lightRig>
          </a:scene3d>
          <a:sp3d prstMaterial="metal">
            <a:bevelT w="63500" h="50800" prst="angle"/>
          </a:sp3d>
        </a:effectStyle>
      </a:effectStyleLst>
      <a:bgFillStyleLst>
        <a:solidFill>
          <a:schemeClr val="phClr">
            <a:tint val="90000"/>
          </a:schemeClr>
        </a:solidFill>
        <a:solidFill>
          <a:schemeClr val="phClr">
            <a:tint val="50000"/>
          </a:schemeClr>
        </a:solidFill>
        <a:solidFill>
          <a:schemeClr val="phClr">
            <a:shade val="60000"/>
          </a:schemeClr>
        </a:soli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Perspective.thmx</Template>
  <TotalTime>2187</TotalTime>
  <Words>1652</Words>
  <Application>Microsoft Office PowerPoint</Application>
  <PresentationFormat>On-screen Show (4:3)</PresentationFormat>
  <Paragraphs>174</Paragraphs>
  <Slides>27</Slides>
  <Notes>19</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Perspective</vt:lpstr>
      <vt:lpstr>Semiotics, Mapping and Emergencies</vt:lpstr>
      <vt:lpstr>Mapping Symbology</vt:lpstr>
      <vt:lpstr>Geographic Information Systems</vt:lpstr>
      <vt:lpstr>3 Branches of Semiotics</vt:lpstr>
      <vt:lpstr>Syntax</vt:lpstr>
      <vt:lpstr>Semantics</vt:lpstr>
      <vt:lpstr>PowerPoint Presentation</vt:lpstr>
      <vt:lpstr>Pragmatics</vt:lpstr>
      <vt:lpstr>Pragmatics</vt:lpstr>
      <vt:lpstr>Semiology of Graphics</vt:lpstr>
      <vt:lpstr>Semiology of Graphics</vt:lpstr>
      <vt:lpstr>Semiotics and Emergency Response</vt:lpstr>
      <vt:lpstr>PowerPoint Presentation</vt:lpstr>
      <vt:lpstr>PowerPoint Presentation</vt:lpstr>
      <vt:lpstr>PowerPoint Presentation</vt:lpstr>
      <vt:lpstr>PowerPoint Presentation</vt:lpstr>
      <vt:lpstr>PowerPoint Presentation</vt:lpstr>
      <vt:lpstr>Emergency Response Symbology</vt:lpstr>
      <vt:lpstr>Emergency Response Symbology</vt:lpstr>
      <vt:lpstr>Standard Symbol for Emergency?</vt:lpstr>
      <vt:lpstr>Canada EMS</vt:lpstr>
      <vt:lpstr>U.S. Standard Symbol Set</vt:lpstr>
      <vt:lpstr>Distributed Process and Toolkit</vt:lpstr>
      <vt:lpstr>Web-Based Symbology Service</vt:lpstr>
      <vt:lpstr>Web-Based Symbology Service</vt:lpstr>
      <vt:lpstr>SymbolStore</vt:lpstr>
      <vt:lpstr>Thanks!</vt:lpstr>
    </vt:vector>
  </TitlesOfParts>
  <Company>Noreen Whysel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Semiotics and Emergency Response</dc:title>
  <dc:creator>Noreen Whysel</dc:creator>
  <cp:lastModifiedBy>Noreen Whysel</cp:lastModifiedBy>
  <cp:revision>9</cp:revision>
  <dcterms:created xsi:type="dcterms:W3CDTF">2014-11-01T15:12:47Z</dcterms:created>
  <dcterms:modified xsi:type="dcterms:W3CDTF">2024-03-01T20:58:51Z</dcterms:modified>
</cp:coreProperties>
</file>